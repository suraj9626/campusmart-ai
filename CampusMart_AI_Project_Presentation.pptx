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committee members, and evaluators. Today I am presenting CampusMart AI, a comprehensive full-stack campus commerce platform designed to modernize university peer-to-peer trading. CampusMart AI solves the critical security, fraud, and privacy flaws inherent in generic platforms like Facebook Marketplace and Craigslist by pairing verified institutional authentication with atomic anti-sniping auctions, designated physical safety zones, and an integrated Google Gemini 2.5 Flash AI assistant. Over the next 9 slides, I will walk you through the real-world problem, our full-stack architecture, unique dual-mode persistence, auction engine, trust safeguards, and verified project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explores the core motivation behind CampusMart AI. University students buy and sell millions of dollars worth of textbooks, electronics, and dorm furniture every semester. Yet they are caught between two bad options: public marketplaces like Craigslist and Facebook Marketplace, which expose students to unverified strangers, scams, and unsafe off-campus meetups; or informal WhatsApp/Telegram groups, which are unsearchable, flooded with noise, and force students to leak their personal phone numbers. Furthermore, campus bookstores mark up textbooks by up to 400%, while graduating students throw away perfectly good dorm appliances every spring. CampusMart AI was specifically engineered to bridge this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present the solution architecture of CampusMart AI. We introduce four core pillars: First, verified academic gating that restricts signups to valid institutional email addresses. Second, dual-commerce flexibility: sellers can list products for direct purchase reservation or launch competitive live auctions. Third, physical safety zones: buyers and sellers pick from pre-approved campus landmarks such as the campus police station or library entrance. Fourth, intelligent safeguards: our Google Gemini 2.5 Flash assistant provides valuation and safety advice, while an automated regex scanner prevents contact leaks in chat.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breaks down the technical architecture into three robust tiers. On the frontend, we use Next.js 16.4.2 with React 19 and Tailwind CSS v4, providing lightning-fast Turbopack compilation and glassmorphism styling. In the middle tier, Next.js Server Route Handlers manage business logic, Google Gemini 2.5 Flash delivers AI intelligence without exposing API keys, and scheduled cron workers finalize auctions. On the data layer, Supabase PostgreSQL 15 manages 12 normalized tables with strict Row-Level Security, custom stored procedures for atomic bidding, and cloud storage buckets with MIME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one of the most innovative engineering decisions in CampusMart AI: the Dual-Mode Persistence Architecture. In production, the system connects directly to Supabase PostgreSQL, executing row-level security and stored procedures. However, capstone evaluators and recruiters often struggle with complex database provisioning when testing projects. To solve this, CampusMart AI features a zero-friction fallback: if database keys are absent, it automatically mounts a reactive in-memory and LocalStorage store pre-seeded with 8 listings, 4 live auctions, and 5 distinct student personas. Using the Demo Role Switcher in the navbar, evaluators can switch between buyer, seller, and admin roles in one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explores our real-time auction engine. Traditional online auctions suffer from bid sniping, where bots or users snipe an item in the last two seconds. CampusMart AI solves this with an anti-sniping algorithm: if any valid bid is submitted in the final 2 minutes, the auction clock automatically extends by 3 minutes. To guarantee concurrency safety, all bids execute through an atomic PostgreSQL stored procedure called place_auction_bid(), which locks the listing row, validates increments, and prohibits sellers from shill-bidding on their own items. Finally, an automated cron endpoint queries expired auctions, designates winners, and notifies both parties.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showcases our Google Gemini 2.5 Flash AI integration. Unlike generic chatbots, CampusMart AI's assistant is specifically primed with university commerce knowledge. It helps students calculate fair resale prices for items, advises on textbook edition differences so students don't overpay for minor revisions, and coaches students on safety protocols. Architecturally, security was our top priority: the API key is completely shielded on the server inside POST /api/ai/chat using the official @google/genai SDK, ensuring no API secrets are exposed to the client. The interface is accessible across all 26 routes with 1-click prompt pills for instant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how safety and privacy are baked into the code, not just listed in a terms of service document. Our Contact Leak Scanner uses a comprehensive regex pattern to intercept telephone numbers and personal email addresses in the chat window, warning students before they leak sensitive personal info. In the database, 100% of our 12 tables implement Row-Level Security: third-party students cannot query or eavesdrop on private messages. Furthermore, our checkout and reservation workflows mandate choosing designated physical meeting spots, such as the campus police station or library lobby, ensuring students never enter private dorm rooms to buy or sell items.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governance and quality verification. First, we built a dedicated Administrative Moderation Center at /admin. Campus security staff can view operational KPIs, inspect reported items, review dispute tickets, and ban offending users with an instant status toggle. Second, to ensure rock-solid stability, we developed a 20-point automated test harness executed with npm test. It validates email domain restrictions, contact leak regex detection, auction integrity, and participant-only chat privacy. All 20 tests pass with a 100% success rate without requiring external network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Slide 10 summarizes the capstone outcomes and our future roadmap. CampusMart AI successfully proves that university peer-to-peer commerce can be made secure, transparent, and economically empowering. We have delivered 26 full-stack routes, a 100% passing test suite, and an architecture ready for deployment. Looking forward, we plan to implement UPI escrow payments with physical QR code verification at pickup, multi-campus federation between sister universities, and computer vision condition grading using Gemini's multimodal capabilities. Thank you for your time and attention. I am now happy to open the floor to questions and live demonstrations.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4114800" cy="3657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38BDF8"/>
                </a:solidFill>
              </a:defRPr>
            </a:pPr>
            <a:r>
              <a:t>🎓 CAPSTONE FINAL PROJECT PRESENTATION</a:t>
            </a:r>
          </a:p>
        </p:txBody>
      </p:sp>
      <p:sp>
        <p:nvSpPr>
          <p:cNvPr id="4" name="TextBox 3"/>
          <p:cNvSpPr txBox="1"/>
          <p:nvPr/>
        </p:nvSpPr>
        <p:spPr>
          <a:xfrm>
            <a:off x="731520" y="1234440"/>
            <a:ext cx="10698480" cy="1097280"/>
          </a:xfrm>
          <a:prstGeom prst="rect">
            <a:avLst/>
          </a:prstGeom>
          <a:noFill/>
        </p:spPr>
        <p:txBody>
          <a:bodyPr wrap="square">
            <a:spAutoFit/>
          </a:bodyPr>
          <a:lstStyle/>
          <a:p>
            <a:pPr>
              <a:defRPr sz="4400" b="1">
                <a:solidFill>
                  <a:srgbClr val="F8FAFC"/>
                </a:solidFill>
                <a:latin typeface="Arial"/>
              </a:defRPr>
            </a:pPr>
            <a:r>
              <a:t>CampusMart AI</a:t>
            </a:r>
          </a:p>
          <a:p>
            <a:pPr>
              <a:spcBef>
                <a:spcPts val="400"/>
              </a:spcBef>
              <a:defRPr sz="1800">
                <a:solidFill>
                  <a:srgbClr val="818CF8"/>
                </a:solidFill>
                <a:latin typeface="Arial"/>
              </a:defRPr>
            </a:pPr>
            <a:r>
              <a:t>Secure Student Marketplace, Real-Time Auctions &amp; Safe On-Campus Commerce with Gemini AI</a:t>
            </a:r>
          </a:p>
        </p:txBody>
      </p:sp>
      <p:sp>
        <p:nvSpPr>
          <p:cNvPr id="5" name="Rounded Rectangle 4"/>
          <p:cNvSpPr/>
          <p:nvPr/>
        </p:nvSpPr>
        <p:spPr>
          <a:xfrm>
            <a:off x="731520" y="2651760"/>
            <a:ext cx="3337560" cy="338328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788920"/>
            <a:ext cx="30632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The Vision &amp; Solution</a:t>
            </a:r>
          </a:p>
        </p:txBody>
      </p:sp>
      <p:sp>
        <p:nvSpPr>
          <p:cNvPr id="7" name="TextBox 6"/>
          <p:cNvSpPr txBox="1"/>
          <p:nvPr/>
        </p:nvSpPr>
        <p:spPr>
          <a:xfrm>
            <a:off x="914400" y="3246120"/>
            <a:ext cx="2971800" cy="269748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Student-Exclusive Ecosystem: </a:t>
            </a:r>
            <a:r>
              <a:rPr>
                <a:solidFill>
                  <a:srgbClr val="94A3B8"/>
                </a:solidFill>
              </a:rPr>
              <a:t>Domain-verified (.edu) closed network eliminating anonymous marketplace fraud and scammers.</a:t>
            </a:r>
          </a:p>
          <a:p>
            <a:pPr>
              <a:spcAft>
                <a:spcPts val="800"/>
              </a:spcAft>
              <a:defRPr sz="1100">
                <a:latin typeface="Arial"/>
              </a:defRPr>
            </a:pPr>
            <a:r>
              <a:rPr b="1">
                <a:solidFill>
                  <a:srgbClr val="38BDF8"/>
                </a:solidFill>
              </a:rPr>
              <a:t>• </a:t>
            </a:r>
            <a:r>
              <a:rPr b="1">
                <a:solidFill>
                  <a:srgbClr val="F8FAFC"/>
                </a:solidFill>
              </a:rPr>
              <a:t>Dual-Mode Commerce: </a:t>
            </a:r>
            <a:r>
              <a:rPr>
                <a:solidFill>
                  <a:srgbClr val="94A3B8"/>
                </a:solidFill>
              </a:rPr>
              <a:t>Fixed-price instant reservations alongside dynamic real-time auctions with live countdowns.</a:t>
            </a:r>
          </a:p>
          <a:p>
            <a:pPr>
              <a:spcAft>
                <a:spcPts val="800"/>
              </a:spcAft>
              <a:defRPr sz="1100">
                <a:latin typeface="Arial"/>
              </a:defRPr>
            </a:pPr>
            <a:r>
              <a:rPr b="1">
                <a:solidFill>
                  <a:srgbClr val="38BDF8"/>
                </a:solidFill>
              </a:rPr>
              <a:t>• </a:t>
            </a:r>
            <a:r>
              <a:rPr b="1">
                <a:solidFill>
                  <a:srgbClr val="F8FAFC"/>
                </a:solidFill>
              </a:rPr>
              <a:t>Physical Safety-First: </a:t>
            </a:r>
            <a:r>
              <a:rPr>
                <a:solidFill>
                  <a:srgbClr val="94A3B8"/>
                </a:solidFill>
              </a:rPr>
              <a:t>Designated campus pickup zones (Police Substation, Library) and in-app contact leak scanners.</a:t>
            </a:r>
          </a:p>
          <a:p>
            <a:pPr>
              <a:spcAft>
                <a:spcPts val="800"/>
              </a:spcAft>
              <a:defRPr sz="1100">
                <a:latin typeface="Arial"/>
              </a:defRPr>
            </a:pPr>
            <a:r>
              <a:rPr b="1">
                <a:solidFill>
                  <a:srgbClr val="38BDF8"/>
                </a:solidFill>
              </a:rPr>
              <a:t>• </a:t>
            </a:r>
            <a:r>
              <a:rPr b="1">
                <a:solidFill>
                  <a:srgbClr val="F8FAFC"/>
                </a:solidFill>
              </a:rPr>
              <a:t>Intelligent Assistant: </a:t>
            </a:r>
            <a:r>
              <a:rPr>
                <a:solidFill>
                  <a:srgbClr val="94A3B8"/>
                </a:solidFill>
              </a:rPr>
              <a:t>Google Gemini 2.5 Flash providing price fairness estimates, textbook lookups, and trade safety tips.</a:t>
            </a:r>
          </a:p>
        </p:txBody>
      </p:sp>
      <p:sp>
        <p:nvSpPr>
          <p:cNvPr id="8" name="Rounded Rectangle 7"/>
          <p:cNvSpPr/>
          <p:nvPr/>
        </p:nvSpPr>
        <p:spPr>
          <a:xfrm>
            <a:off x="4425696" y="2651760"/>
            <a:ext cx="3337560" cy="338328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62856" y="2788920"/>
            <a:ext cx="30632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Enterprise Tech Stack</a:t>
            </a:r>
          </a:p>
        </p:txBody>
      </p:sp>
      <p:sp>
        <p:nvSpPr>
          <p:cNvPr id="10" name="TextBox 9"/>
          <p:cNvSpPr txBox="1"/>
          <p:nvPr/>
        </p:nvSpPr>
        <p:spPr>
          <a:xfrm>
            <a:off x="4608576" y="3246120"/>
            <a:ext cx="2971800" cy="269748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Next.js 16.4.2 &amp; React 19: </a:t>
            </a:r>
            <a:r>
              <a:rPr>
                <a:solidFill>
                  <a:srgbClr val="94A3B8"/>
                </a:solidFill>
              </a:rPr>
              <a:t>Modern App Router with Turbopack, Server Route Handlers, and full SSR performance.</a:t>
            </a:r>
          </a:p>
          <a:p>
            <a:pPr>
              <a:spcAft>
                <a:spcPts val="800"/>
              </a:spcAft>
              <a:defRPr sz="1100">
                <a:latin typeface="Arial"/>
              </a:defRPr>
            </a:pPr>
            <a:r>
              <a:rPr b="1">
                <a:solidFill>
                  <a:srgbClr val="818CF8"/>
                </a:solidFill>
              </a:rPr>
              <a:t>• </a:t>
            </a:r>
            <a:r>
              <a:rPr b="1">
                <a:solidFill>
                  <a:srgbClr val="F8FAFC"/>
                </a:solidFill>
              </a:rPr>
              <a:t>Tailwind CSS v4 &amp; Motion: </a:t>
            </a:r>
            <a:r>
              <a:rPr>
                <a:solidFill>
                  <a:srgbClr val="94A3B8"/>
                </a:solidFill>
              </a:rPr>
              <a:t>Dark/Light luxury glassmorphism UI, Outfit &amp; Plus Jakarta Sans typography.</a:t>
            </a:r>
          </a:p>
          <a:p>
            <a:pPr>
              <a:spcAft>
                <a:spcPts val="800"/>
              </a:spcAft>
              <a:defRPr sz="1100">
                <a:latin typeface="Arial"/>
              </a:defRPr>
            </a:pPr>
            <a:r>
              <a:rPr b="1">
                <a:solidFill>
                  <a:srgbClr val="818CF8"/>
                </a:solidFill>
              </a:rPr>
              <a:t>• </a:t>
            </a:r>
            <a:r>
              <a:rPr b="1">
                <a:solidFill>
                  <a:srgbClr val="F8FAFC"/>
                </a:solidFill>
              </a:rPr>
              <a:t>Supabase PostgreSQL 15: </a:t>
            </a:r>
            <a:r>
              <a:rPr>
                <a:solidFill>
                  <a:srgbClr val="94A3B8"/>
                </a:solidFill>
              </a:rPr>
              <a:t>12 normalized relational tables with 100% Row-Level Security (RLS) enforcement.</a:t>
            </a:r>
          </a:p>
          <a:p>
            <a:pPr>
              <a:spcAft>
                <a:spcPts val="800"/>
              </a:spcAft>
              <a:defRPr sz="1100">
                <a:latin typeface="Arial"/>
              </a:defRPr>
            </a:pPr>
            <a:r>
              <a:rPr b="1">
                <a:solidFill>
                  <a:srgbClr val="818CF8"/>
                </a:solidFill>
              </a:rPr>
              <a:t>• </a:t>
            </a:r>
            <a:r>
              <a:rPr b="1">
                <a:solidFill>
                  <a:srgbClr val="F8FAFC"/>
                </a:solidFill>
              </a:rPr>
              <a:t>AI &amp; Automation: </a:t>
            </a:r>
            <a:r>
              <a:rPr>
                <a:solidFill>
                  <a:srgbClr val="94A3B8"/>
                </a:solidFill>
              </a:rPr>
              <a:t>@google/genai (Gemini 2.5 Flash) server-shielded API with scheduled Vercel Cron auction workers.</a:t>
            </a:r>
          </a:p>
        </p:txBody>
      </p:sp>
      <p:sp>
        <p:nvSpPr>
          <p:cNvPr id="11" name="Rounded Rectangle 10"/>
          <p:cNvSpPr/>
          <p:nvPr/>
        </p:nvSpPr>
        <p:spPr>
          <a:xfrm>
            <a:off x="8119872" y="2651760"/>
            <a:ext cx="3337560" cy="338328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57032" y="2788920"/>
            <a:ext cx="30632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Key Capstone Metrics</a:t>
            </a:r>
          </a:p>
        </p:txBody>
      </p:sp>
      <p:sp>
        <p:nvSpPr>
          <p:cNvPr id="13" name="TextBox 12"/>
          <p:cNvSpPr txBox="1"/>
          <p:nvPr/>
        </p:nvSpPr>
        <p:spPr>
          <a:xfrm>
            <a:off x="8302752" y="3246120"/>
            <a:ext cx="2971800" cy="269748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26 Responsive Routes: </a:t>
            </a:r>
            <a:r>
              <a:rPr>
                <a:solidFill>
                  <a:srgbClr val="94A3B8"/>
                </a:solidFill>
              </a:rPr>
              <a:t>Complete full-stack coverage: Marketplace, Auctions, P2P Chat, Admin Center &amp; Analytics.</a:t>
            </a:r>
          </a:p>
          <a:p>
            <a:pPr>
              <a:spcAft>
                <a:spcPts val="800"/>
              </a:spcAft>
              <a:defRPr sz="1100">
                <a:latin typeface="Arial"/>
              </a:defRPr>
            </a:pPr>
            <a:r>
              <a:rPr b="1">
                <a:solidFill>
                  <a:srgbClr val="34D399"/>
                </a:solidFill>
              </a:rPr>
              <a:t>• </a:t>
            </a:r>
            <a:r>
              <a:rPr b="1">
                <a:solidFill>
                  <a:srgbClr val="F8FAFC"/>
                </a:solidFill>
              </a:rPr>
              <a:t>20/20 Test Suite Pass: </a:t>
            </a:r>
            <a:r>
              <a:rPr>
                <a:solidFill>
                  <a:srgbClr val="94A3B8"/>
                </a:solidFill>
              </a:rPr>
              <a:t>Automated integration suite validating security, anti-sniping, domain filters &amp; privacy.</a:t>
            </a:r>
          </a:p>
          <a:p>
            <a:pPr>
              <a:spcAft>
                <a:spcPts val="800"/>
              </a:spcAft>
              <a:defRPr sz="1100">
                <a:latin typeface="Arial"/>
              </a:defRPr>
            </a:pPr>
            <a:r>
              <a:rPr b="1">
                <a:solidFill>
                  <a:srgbClr val="34D399"/>
                </a:solidFill>
              </a:rPr>
              <a:t>• </a:t>
            </a:r>
            <a:r>
              <a:rPr b="1">
                <a:solidFill>
                  <a:srgbClr val="F8FAFC"/>
                </a:solidFill>
              </a:rPr>
              <a:t>Dual-Mode Architecture: </a:t>
            </a:r>
            <a:r>
              <a:rPr>
                <a:solidFill>
                  <a:srgbClr val="94A3B8"/>
                </a:solidFill>
              </a:rPr>
              <a:t>Live Supabase cloud sync + instant out-of-the-box local demo fallback with 5 student personas.</a:t>
            </a:r>
          </a:p>
          <a:p>
            <a:pPr>
              <a:spcAft>
                <a:spcPts val="800"/>
              </a:spcAft>
              <a:defRPr sz="1100">
                <a:latin typeface="Arial"/>
              </a:defRPr>
            </a:pPr>
            <a:r>
              <a:rPr b="1">
                <a:solidFill>
                  <a:srgbClr val="34D399"/>
                </a:solidFill>
              </a:rPr>
              <a:t>• </a:t>
            </a:r>
            <a:r>
              <a:rPr b="1">
                <a:solidFill>
                  <a:srgbClr val="F8FAFC"/>
                </a:solidFill>
              </a:rPr>
              <a:t>₹ INR Native Pricing: </a:t>
            </a:r>
            <a:r>
              <a:rPr>
                <a:solidFill>
                  <a:srgbClr val="94A3B8"/>
                </a:solidFill>
              </a:rPr>
              <a:t>Fully localized for student budgets with authentic campus trade categories.</a:t>
            </a:r>
          </a:p>
        </p:txBody>
      </p:sp>
      <p:sp>
        <p:nvSpPr>
          <p:cNvPr id="14" name="Rectangle 13"/>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6" name="TextBox 15"/>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CAMPUS COMMERCE DEFICIENCIES</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The Crisis in University Peer-to-Peer Commerce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Why generic public marketplaces and informal social media chat groups fail university students</a:t>
            </a:r>
          </a:p>
        </p:txBody>
      </p:sp>
      <p:sp>
        <p:nvSpPr>
          <p:cNvPr id="6" name="Rounded Rectangle 5"/>
          <p:cNvSpPr/>
          <p:nvPr/>
        </p:nvSpPr>
        <p:spPr>
          <a:xfrm>
            <a:off x="73152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7185"/>
                </a:solidFill>
                <a:latin typeface="Arial"/>
              </a:defRPr>
            </a:pPr>
            <a:r>
              <a:t>🚨  Off-Campus Dangers &amp; Fraud</a:t>
            </a:r>
          </a:p>
        </p:txBody>
      </p:sp>
      <p:sp>
        <p:nvSpPr>
          <p:cNvPr id="8" name="TextBox 7"/>
          <p:cNvSpPr txBox="1"/>
          <p:nvPr/>
        </p:nvSpPr>
        <p:spPr>
          <a:xfrm>
            <a:off x="91440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7185"/>
                </a:solidFill>
              </a:rPr>
              <a:t>• </a:t>
            </a:r>
            <a:r>
              <a:rPr b="1">
                <a:solidFill>
                  <a:srgbClr val="F8FAFC"/>
                </a:solidFill>
              </a:rPr>
              <a:t>Off-Campus Meetup Perils: </a:t>
            </a:r>
            <a:r>
              <a:rPr>
                <a:solidFill>
                  <a:srgbClr val="94A3B8"/>
                </a:solidFill>
              </a:rPr>
              <a:t>Generic marketplaces (Craigslist, FB Marketplace) force students to meet unknown strangers in secluded spots, risking physical safety, theft, and harassment.</a:t>
            </a:r>
          </a:p>
          <a:p>
            <a:pPr>
              <a:spcAft>
                <a:spcPts val="800"/>
              </a:spcAft>
              <a:defRPr sz="1100">
                <a:latin typeface="Arial"/>
              </a:defRPr>
            </a:pPr>
            <a:r>
              <a:rPr b="1">
                <a:solidFill>
                  <a:srgbClr val="FB7185"/>
                </a:solidFill>
              </a:rPr>
              <a:t>• </a:t>
            </a:r>
            <a:r>
              <a:rPr b="1">
                <a:solidFill>
                  <a:srgbClr val="F8FAFC"/>
                </a:solidFill>
              </a:rPr>
              <a:t>Zero Identity Verification: </a:t>
            </a:r>
            <a:r>
              <a:rPr>
                <a:solidFill>
                  <a:srgbClr val="94A3B8"/>
                </a:solidFill>
              </a:rPr>
              <a:t>Anyone can create disposable accounts; banned scammers return under new aliases with zero institutional accountability.</a:t>
            </a:r>
          </a:p>
          <a:p>
            <a:pPr>
              <a:spcAft>
                <a:spcPts val="800"/>
              </a:spcAft>
              <a:defRPr sz="1100">
                <a:latin typeface="Arial"/>
              </a:defRPr>
            </a:pPr>
            <a:r>
              <a:rPr b="1">
                <a:solidFill>
                  <a:srgbClr val="FB7185"/>
                </a:solidFill>
              </a:rPr>
              <a:t>• </a:t>
            </a:r>
            <a:r>
              <a:rPr b="1">
                <a:solidFill>
                  <a:srgbClr val="F8FAFC"/>
                </a:solidFill>
              </a:rPr>
              <a:t>Counterfeits &amp; Scams: </a:t>
            </a:r>
            <a:r>
              <a:rPr>
                <a:solidFill>
                  <a:srgbClr val="94A3B8"/>
                </a:solidFill>
              </a:rPr>
              <a:t>High incidence of fake electronics, non-functional hardware, and stolen campus property with no recourse.</a:t>
            </a:r>
          </a:p>
        </p:txBody>
      </p:sp>
      <p:sp>
        <p:nvSpPr>
          <p:cNvPr id="9" name="Rounded Rectangle 8"/>
          <p:cNvSpPr/>
          <p:nvPr/>
        </p:nvSpPr>
        <p:spPr>
          <a:xfrm>
            <a:off x="626364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Chaos of Social Media Groups</a:t>
            </a:r>
          </a:p>
        </p:txBody>
      </p:sp>
      <p:sp>
        <p:nvSpPr>
          <p:cNvPr id="11" name="TextBox 10"/>
          <p:cNvSpPr txBox="1"/>
          <p:nvPr/>
        </p:nvSpPr>
        <p:spPr>
          <a:xfrm>
            <a:off x="644652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High-Noise Flooded Chats: </a:t>
            </a:r>
            <a:r>
              <a:rPr>
                <a:solidFill>
                  <a:srgbClr val="94A3B8"/>
                </a:solidFill>
              </a:rPr>
              <a:t>WhatsApp &amp; Telegram student groups drown listings in seconds; zero structured search or category filtering.</a:t>
            </a:r>
          </a:p>
          <a:p>
            <a:pPr>
              <a:spcAft>
                <a:spcPts val="800"/>
              </a:spcAft>
              <a:defRPr sz="1100">
                <a:latin typeface="Arial"/>
              </a:defRPr>
            </a:pPr>
            <a:r>
              <a:rPr b="1">
                <a:solidFill>
                  <a:srgbClr val="FBBF24"/>
                </a:solidFill>
              </a:rPr>
              <a:t>• </a:t>
            </a:r>
            <a:r>
              <a:rPr b="1">
                <a:solidFill>
                  <a:srgbClr val="F8FAFC"/>
                </a:solidFill>
              </a:rPr>
              <a:t>No Standardized Quality: </a:t>
            </a:r>
            <a:r>
              <a:rPr>
                <a:solidFill>
                  <a:srgbClr val="94A3B8"/>
                </a:solidFill>
              </a:rPr>
              <a:t>Items lack condition grading (Brand New vs. Fair); vague descriptions lead to disputes and wasted meetups.</a:t>
            </a:r>
          </a:p>
          <a:p>
            <a:pPr>
              <a:spcAft>
                <a:spcPts val="800"/>
              </a:spcAft>
              <a:defRPr sz="1100">
                <a:latin typeface="Arial"/>
              </a:defRPr>
            </a:pPr>
            <a:r>
              <a:rPr b="1">
                <a:solidFill>
                  <a:srgbClr val="FBBF24"/>
                </a:solidFill>
              </a:rPr>
              <a:t>• </a:t>
            </a:r>
            <a:r>
              <a:rPr b="1">
                <a:solidFill>
                  <a:srgbClr val="F8FAFC"/>
                </a:solidFill>
              </a:rPr>
              <a:t>Unregulated Bidding Wars: </a:t>
            </a:r>
            <a:r>
              <a:rPr>
                <a:solidFill>
                  <a:srgbClr val="94A3B8"/>
                </a:solidFill>
              </a:rPr>
              <a:t>Informal group chat bidding suffers from ghosting, price manipulation, and lack of binding closing times.</a:t>
            </a:r>
          </a:p>
        </p:txBody>
      </p:sp>
      <p:sp>
        <p:nvSpPr>
          <p:cNvPr id="12" name="Rounded Rectangle 11"/>
          <p:cNvSpPr/>
          <p:nvPr/>
        </p:nvSpPr>
        <p:spPr>
          <a:xfrm>
            <a:off x="73152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206240"/>
            <a:ext cx="4892040" cy="384048"/>
          </a:xfrm>
          <a:prstGeom prst="roundRect">
            <a:avLst/>
          </a:prstGeom>
          <a:solidFill>
            <a:srgbClr val="0F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7185"/>
                </a:solidFill>
                <a:latin typeface="Arial"/>
              </a:defRPr>
            </a:pPr>
            <a:r>
              <a:t>🔒  Severe Privacy &amp; Contact Leaks</a:t>
            </a:r>
          </a:p>
        </p:txBody>
      </p:sp>
      <p:sp>
        <p:nvSpPr>
          <p:cNvPr id="14" name="TextBox 13"/>
          <p:cNvSpPr txBox="1"/>
          <p:nvPr/>
        </p:nvSpPr>
        <p:spPr>
          <a:xfrm>
            <a:off x="91440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7185"/>
                </a:solidFill>
              </a:rPr>
              <a:t>• </a:t>
            </a:r>
            <a:r>
              <a:rPr b="1">
                <a:solidFill>
                  <a:srgbClr val="F8FAFC"/>
                </a:solidFill>
              </a:rPr>
              <a:t>Public Contact Exposure: </a:t>
            </a:r>
            <a:r>
              <a:rPr>
                <a:solidFill>
                  <a:srgbClr val="94A3B8"/>
                </a:solidFill>
              </a:rPr>
              <a:t>Students are forced to post personal phone numbers, WhatsApp links, and private emails in open groups.</a:t>
            </a:r>
          </a:p>
          <a:p>
            <a:pPr>
              <a:spcAft>
                <a:spcPts val="800"/>
              </a:spcAft>
              <a:defRPr sz="1100">
                <a:latin typeface="Arial"/>
              </a:defRPr>
            </a:pPr>
            <a:r>
              <a:rPr b="1">
                <a:solidFill>
                  <a:srgbClr val="FB7185"/>
                </a:solidFill>
              </a:rPr>
              <a:t>• </a:t>
            </a:r>
            <a:r>
              <a:rPr b="1">
                <a:solidFill>
                  <a:srgbClr val="F8FAFC"/>
                </a:solidFill>
              </a:rPr>
              <a:t>Targeted Harassment: </a:t>
            </a:r>
            <a:r>
              <a:rPr>
                <a:solidFill>
                  <a:srgbClr val="94A3B8"/>
                </a:solidFill>
              </a:rPr>
              <a:t>Exposing personal contact info leads to off-campus spam, predatory phishing attacks, and unwanted student stalking.</a:t>
            </a:r>
          </a:p>
          <a:p>
            <a:pPr>
              <a:spcAft>
                <a:spcPts val="800"/>
              </a:spcAft>
              <a:defRPr sz="1100">
                <a:latin typeface="Arial"/>
              </a:defRPr>
            </a:pPr>
            <a:r>
              <a:rPr b="1">
                <a:solidFill>
                  <a:srgbClr val="FB7185"/>
                </a:solidFill>
              </a:rPr>
              <a:t>• </a:t>
            </a:r>
            <a:r>
              <a:rPr b="1">
                <a:solidFill>
                  <a:srgbClr val="F8FAFC"/>
                </a:solidFill>
              </a:rPr>
              <a:t>Unsafe Payment Channels: </a:t>
            </a:r>
            <a:r>
              <a:rPr>
                <a:solidFill>
                  <a:srgbClr val="94A3B8"/>
                </a:solidFill>
              </a:rPr>
              <a:t>Lack of safe transaction framing leaves students vulnerable to fraudulent wire transfers and fake payment screenshots.</a:t>
            </a:r>
          </a:p>
        </p:txBody>
      </p:sp>
      <p:sp>
        <p:nvSpPr>
          <p:cNvPr id="15" name="Rounded Rectangle 14"/>
          <p:cNvSpPr/>
          <p:nvPr/>
        </p:nvSpPr>
        <p:spPr>
          <a:xfrm>
            <a:off x="626364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206240"/>
            <a:ext cx="48920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The Student Financial &amp; Waste Burden</a:t>
            </a:r>
          </a:p>
        </p:txBody>
      </p:sp>
      <p:sp>
        <p:nvSpPr>
          <p:cNvPr id="17" name="TextBox 16"/>
          <p:cNvSpPr txBox="1"/>
          <p:nvPr/>
        </p:nvSpPr>
        <p:spPr>
          <a:xfrm>
            <a:off x="644652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Predatory Bookstore Markups: </a:t>
            </a:r>
            <a:r>
              <a:rPr>
                <a:solidFill>
                  <a:srgbClr val="94A3B8"/>
                </a:solidFill>
              </a:rPr>
              <a:t>Campus bookstores charge up to 400% markups on required course textbooks, clickers, and lab supplies.</a:t>
            </a:r>
          </a:p>
          <a:p>
            <a:pPr>
              <a:spcAft>
                <a:spcPts val="800"/>
              </a:spcAft>
              <a:defRPr sz="1100">
                <a:latin typeface="Arial"/>
              </a:defRPr>
            </a:pPr>
            <a:r>
              <a:rPr b="1">
                <a:solidFill>
                  <a:srgbClr val="FBBF24"/>
                </a:solidFill>
              </a:rPr>
              <a:t>• </a:t>
            </a:r>
            <a:r>
              <a:rPr b="1">
                <a:solidFill>
                  <a:srgbClr val="F8FAFC"/>
                </a:solidFill>
              </a:rPr>
              <a:t>Severe Semester Landfill Waste: </a:t>
            </a:r>
            <a:r>
              <a:rPr>
                <a:solidFill>
                  <a:srgbClr val="94A3B8"/>
                </a:solidFill>
              </a:rPr>
              <a:t>Graduating students dump thousands of usable mini-fridges, desks, and electronics every year due to lack of an organized campus exchange.</a:t>
            </a:r>
          </a:p>
          <a:p>
            <a:pPr>
              <a:spcAft>
                <a:spcPts val="800"/>
              </a:spcAft>
              <a:defRPr sz="1100">
                <a:latin typeface="Arial"/>
              </a:defRPr>
            </a:pPr>
            <a:r>
              <a:rPr b="1">
                <a:solidFill>
                  <a:srgbClr val="FBBF24"/>
                </a:solidFill>
              </a:rPr>
              <a:t>• </a:t>
            </a:r>
            <a:r>
              <a:rPr b="1">
                <a:solidFill>
                  <a:srgbClr val="F8FAFC"/>
                </a:solidFill>
              </a:rPr>
              <a:t>Lack of Valuation Guidance: </a:t>
            </a:r>
            <a:r>
              <a:rPr>
                <a:solidFill>
                  <a:srgbClr val="94A3B8"/>
                </a:solidFill>
              </a:rPr>
              <a:t>Freshmen and sellers lack reliable price benchmarks, resulting in under-selling or predatory pricing.</a:t>
            </a:r>
          </a:p>
        </p:txBody>
      </p:sp>
      <p:sp>
        <p:nvSpPr>
          <p:cNvPr id="18" name="Rectangle 17"/>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20" name="TextBox 19"/>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2 of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SYSTEM VISION &amp; CORE VALUE</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CampusMart AI: A Trusted, Closed-Loop Campus Marketplace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Systematic solutions engineered for student physical safety, authentic trust, and fair pricing</a:t>
            </a:r>
          </a:p>
        </p:txBody>
      </p:sp>
      <p:sp>
        <p:nvSpPr>
          <p:cNvPr id="6" name="Rounded Rectangle 5"/>
          <p:cNvSpPr/>
          <p:nvPr/>
        </p:nvSpPr>
        <p:spPr>
          <a:xfrm>
            <a:off x="73152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Verified Academic Gating</a:t>
            </a:r>
          </a:p>
        </p:txBody>
      </p:sp>
      <p:sp>
        <p:nvSpPr>
          <p:cNvPr id="8" name="TextBox 7"/>
          <p:cNvSpPr txBox="1"/>
          <p:nvPr/>
        </p:nvSpPr>
        <p:spPr>
          <a:xfrm>
            <a:off x="91440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Institutional Domain Enforcement: </a:t>
            </a:r>
            <a:r>
              <a:rPr>
                <a:solidFill>
                  <a:srgbClr val="94A3B8"/>
                </a:solidFill>
              </a:rPr>
              <a:t>Restricted to verified institutional college emails (.edu, university subdomains); disposable and commercial domains are strictly filtered.</a:t>
            </a:r>
          </a:p>
          <a:p>
            <a:pPr>
              <a:spcAft>
                <a:spcPts val="800"/>
              </a:spcAft>
              <a:defRPr sz="1100">
                <a:latin typeface="Arial"/>
              </a:defRPr>
            </a:pPr>
            <a:r>
              <a:rPr b="1">
                <a:solidFill>
                  <a:srgbClr val="38BDF8"/>
                </a:solidFill>
              </a:rPr>
              <a:t>• </a:t>
            </a:r>
            <a:r>
              <a:rPr b="1">
                <a:solidFill>
                  <a:srgbClr val="F8FAFC"/>
                </a:solidFill>
              </a:rPr>
              <a:t>Peer Accountability: </a:t>
            </a:r>
            <a:r>
              <a:rPr>
                <a:solidFill>
                  <a:srgbClr val="94A3B8"/>
                </a:solidFill>
              </a:rPr>
              <a:t>Every user profile displays verified department, academic year, and university affiliation.</a:t>
            </a:r>
          </a:p>
          <a:p>
            <a:pPr>
              <a:spcAft>
                <a:spcPts val="800"/>
              </a:spcAft>
              <a:defRPr sz="1100">
                <a:latin typeface="Arial"/>
              </a:defRPr>
            </a:pPr>
            <a:r>
              <a:rPr b="1">
                <a:solidFill>
                  <a:srgbClr val="38BDF8"/>
                </a:solidFill>
              </a:rPr>
              <a:t>• </a:t>
            </a:r>
            <a:r>
              <a:rPr b="1">
                <a:solidFill>
                  <a:srgbClr val="F8FAFC"/>
                </a:solidFill>
              </a:rPr>
              <a:t>Elimination of Outside Actors: </a:t>
            </a:r>
            <a:r>
              <a:rPr>
                <a:solidFill>
                  <a:srgbClr val="94A3B8"/>
                </a:solidFill>
              </a:rPr>
              <a:t>Commercial bots, external spammers, and malicious third parties are locked out of the marketplace.</a:t>
            </a:r>
          </a:p>
        </p:txBody>
      </p:sp>
      <p:sp>
        <p:nvSpPr>
          <p:cNvPr id="9" name="Rounded Rectangle 8"/>
          <p:cNvSpPr/>
          <p:nvPr/>
        </p:nvSpPr>
        <p:spPr>
          <a:xfrm>
            <a:off x="626364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Dual-Commerce Flexibility</a:t>
            </a:r>
          </a:p>
        </p:txBody>
      </p:sp>
      <p:sp>
        <p:nvSpPr>
          <p:cNvPr id="11" name="TextBox 10"/>
          <p:cNvSpPr txBox="1"/>
          <p:nvPr/>
        </p:nvSpPr>
        <p:spPr>
          <a:xfrm>
            <a:off x="644652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Fixed-Price Purchase Intent: </a:t>
            </a:r>
            <a:r>
              <a:rPr>
                <a:solidFill>
                  <a:srgbClr val="94A3B8"/>
                </a:solidFill>
              </a:rPr>
              <a:t>Instant reservation workflow notifying sellers to coordinate designated campus handoffs.</a:t>
            </a:r>
          </a:p>
          <a:p>
            <a:pPr>
              <a:spcAft>
                <a:spcPts val="800"/>
              </a:spcAft>
              <a:defRPr sz="1100">
                <a:latin typeface="Arial"/>
              </a:defRPr>
            </a:pPr>
            <a:r>
              <a:rPr b="1">
                <a:solidFill>
                  <a:srgbClr val="34D399"/>
                </a:solidFill>
              </a:rPr>
              <a:t>• </a:t>
            </a:r>
            <a:r>
              <a:rPr b="1">
                <a:solidFill>
                  <a:srgbClr val="F8FAFC"/>
                </a:solidFill>
              </a:rPr>
              <a:t>Dynamic Real-Time Auctions: </a:t>
            </a:r>
            <a:r>
              <a:rPr>
                <a:solidFill>
                  <a:srgbClr val="94A3B8"/>
                </a:solidFill>
              </a:rPr>
              <a:t>Competitive bidding with live countdown timers, bid feeds, and minimum increment calculations.</a:t>
            </a:r>
          </a:p>
          <a:p>
            <a:pPr>
              <a:spcAft>
                <a:spcPts val="800"/>
              </a:spcAft>
              <a:defRPr sz="1100">
                <a:latin typeface="Arial"/>
              </a:defRPr>
            </a:pPr>
            <a:r>
              <a:rPr b="1">
                <a:solidFill>
                  <a:srgbClr val="34D399"/>
                </a:solidFill>
              </a:rPr>
              <a:t>• </a:t>
            </a:r>
            <a:r>
              <a:rPr b="1">
                <a:solidFill>
                  <a:srgbClr val="F8FAFC"/>
                </a:solidFill>
              </a:rPr>
              <a:t>Affordable Rupee (₹ INR) Native: </a:t>
            </a:r>
            <a:r>
              <a:rPr>
                <a:solidFill>
                  <a:srgbClr val="94A3B8"/>
                </a:solidFill>
              </a:rPr>
              <a:t>Customized for realistic student budget items with standardized condition tiers (Brand New to Fair).</a:t>
            </a:r>
          </a:p>
        </p:txBody>
      </p:sp>
      <p:sp>
        <p:nvSpPr>
          <p:cNvPr id="12" name="Rounded Rectangle 11"/>
          <p:cNvSpPr/>
          <p:nvPr/>
        </p:nvSpPr>
        <p:spPr>
          <a:xfrm>
            <a:off x="73152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206240"/>
            <a:ext cx="48920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Physical Safety Exchange Zones</a:t>
            </a:r>
          </a:p>
        </p:txBody>
      </p:sp>
      <p:sp>
        <p:nvSpPr>
          <p:cNvPr id="14" name="TextBox 13"/>
          <p:cNvSpPr txBox="1"/>
          <p:nvPr/>
        </p:nvSpPr>
        <p:spPr>
          <a:xfrm>
            <a:off x="91440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Standardized Meetup Dropdowns: </a:t>
            </a:r>
            <a:r>
              <a:rPr>
                <a:solidFill>
                  <a:srgbClr val="94A3B8"/>
                </a:solidFill>
              </a:rPr>
              <a:t>Users choose from official university safe zones: Campus Police Substation, Main Library Lobby, Student Union.</a:t>
            </a:r>
          </a:p>
          <a:p>
            <a:pPr>
              <a:spcAft>
                <a:spcPts val="800"/>
              </a:spcAft>
              <a:defRPr sz="1100">
                <a:latin typeface="Arial"/>
              </a:defRPr>
            </a:pPr>
            <a:r>
              <a:rPr b="1">
                <a:solidFill>
                  <a:srgbClr val="FBBF24"/>
                </a:solidFill>
              </a:rPr>
              <a:t>• </a:t>
            </a:r>
            <a:r>
              <a:rPr b="1">
                <a:solidFill>
                  <a:srgbClr val="F8FAFC"/>
                </a:solidFill>
              </a:rPr>
              <a:t>Well-Lit, Monitored Locations: </a:t>
            </a:r>
            <a:r>
              <a:rPr>
                <a:solidFill>
                  <a:srgbClr val="94A3B8"/>
                </a:solidFill>
              </a:rPr>
              <a:t>Zero private dorm room entries or off-campus alleyway encounters; ensures transparent peer meetups.</a:t>
            </a:r>
          </a:p>
          <a:p>
            <a:pPr>
              <a:spcAft>
                <a:spcPts val="800"/>
              </a:spcAft>
              <a:defRPr sz="1100">
                <a:latin typeface="Arial"/>
              </a:defRPr>
            </a:pPr>
            <a:r>
              <a:rPr b="1">
                <a:solidFill>
                  <a:srgbClr val="FBBF24"/>
                </a:solidFill>
              </a:rPr>
              <a:t>• </a:t>
            </a:r>
            <a:r>
              <a:rPr b="1">
                <a:solidFill>
                  <a:srgbClr val="F8FAFC"/>
                </a:solidFill>
              </a:rPr>
              <a:t>Daytime Exchange Protocols: </a:t>
            </a:r>
            <a:r>
              <a:rPr>
                <a:solidFill>
                  <a:srgbClr val="94A3B8"/>
                </a:solidFill>
              </a:rPr>
              <a:t>Built-in safety checklists remind students to verify item functionality before exchanging funds.</a:t>
            </a:r>
          </a:p>
        </p:txBody>
      </p:sp>
      <p:sp>
        <p:nvSpPr>
          <p:cNvPr id="15" name="Rounded Rectangle 14"/>
          <p:cNvSpPr/>
          <p:nvPr/>
        </p:nvSpPr>
        <p:spPr>
          <a:xfrm>
            <a:off x="626364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206240"/>
            <a:ext cx="48920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AI Assistance &amp; Privacy Shield</a:t>
            </a:r>
          </a:p>
        </p:txBody>
      </p:sp>
      <p:sp>
        <p:nvSpPr>
          <p:cNvPr id="17" name="TextBox 16"/>
          <p:cNvSpPr txBox="1"/>
          <p:nvPr/>
        </p:nvSpPr>
        <p:spPr>
          <a:xfrm>
            <a:off x="644652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Google Gemini 2.5 Flash Co-Pilot: </a:t>
            </a:r>
            <a:r>
              <a:rPr>
                <a:solidFill>
                  <a:srgbClr val="94A3B8"/>
                </a:solidFill>
              </a:rPr>
              <a:t>Context-aware AI assistant evaluates fair used prices, deciphers textbook edition differences, and advises on trade safety.</a:t>
            </a:r>
          </a:p>
          <a:p>
            <a:pPr>
              <a:spcAft>
                <a:spcPts val="800"/>
              </a:spcAft>
              <a:defRPr sz="1100">
                <a:latin typeface="Arial"/>
              </a:defRPr>
            </a:pPr>
            <a:r>
              <a:rPr b="1">
                <a:solidFill>
                  <a:srgbClr val="818CF8"/>
                </a:solidFill>
              </a:rPr>
              <a:t>• </a:t>
            </a:r>
            <a:r>
              <a:rPr b="1">
                <a:solidFill>
                  <a:srgbClr val="F8FAFC"/>
                </a:solidFill>
              </a:rPr>
              <a:t>Proactive Contact Leak Scanner: </a:t>
            </a:r>
            <a:r>
              <a:rPr>
                <a:solidFill>
                  <a:srgbClr val="94A3B8"/>
                </a:solidFill>
              </a:rPr>
              <a:t>Client-side regex filter detects phone numbers, WhatsApp links, and personal emails in chat, warning users prior to transmission.</a:t>
            </a:r>
          </a:p>
          <a:p>
            <a:pPr>
              <a:spcAft>
                <a:spcPts val="800"/>
              </a:spcAft>
              <a:defRPr sz="1100">
                <a:latin typeface="Arial"/>
              </a:defRPr>
            </a:pPr>
            <a:r>
              <a:rPr b="1">
                <a:solidFill>
                  <a:srgbClr val="818CF8"/>
                </a:solidFill>
              </a:rPr>
              <a:t>• </a:t>
            </a:r>
            <a:r>
              <a:rPr b="1">
                <a:solidFill>
                  <a:srgbClr val="F8FAFC"/>
                </a:solidFill>
              </a:rPr>
              <a:t>Row-Level Security (RLS) Isolation: </a:t>
            </a:r>
            <a:r>
              <a:rPr>
                <a:solidFill>
                  <a:srgbClr val="94A3B8"/>
                </a:solidFill>
              </a:rPr>
              <a:t>Participant-only chat threads protected at the database kernel level.</a:t>
            </a:r>
          </a:p>
        </p:txBody>
      </p:sp>
      <p:sp>
        <p:nvSpPr>
          <p:cNvPr id="18" name="Rectangle 17"/>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20" name="TextBox 19"/>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3 of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SYSTEM DESIGN &amp; INFRASTRUCTURE</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Modern Full-Stack Cloud Architecture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High-performance, type-safe architecture combining Next.js 16 App Router, Supabase PostgreSQL &amp; Gemini AI</a:t>
            </a:r>
          </a:p>
        </p:txBody>
      </p:sp>
      <p:sp>
        <p:nvSpPr>
          <p:cNvPr id="6" name="Rounded Rectangle 5"/>
          <p:cNvSpPr/>
          <p:nvPr/>
        </p:nvSpPr>
        <p:spPr>
          <a:xfrm>
            <a:off x="731520"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30632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Client &amp; Presentation Layer</a:t>
            </a:r>
          </a:p>
        </p:txBody>
      </p:sp>
      <p:sp>
        <p:nvSpPr>
          <p:cNvPr id="8" name="TextBox 7"/>
          <p:cNvSpPr txBox="1"/>
          <p:nvPr/>
        </p:nvSpPr>
        <p:spPr>
          <a:xfrm>
            <a:off x="914400"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Next.js 16.4.2 App Router: </a:t>
            </a:r>
            <a:r>
              <a:rPr>
                <a:solidFill>
                  <a:srgbClr val="94A3B8"/>
                </a:solidFill>
              </a:rPr>
              <a:t>Server Components, dynamic SSR rendering, and fast Turbopack bundling across 26 routes.</a:t>
            </a:r>
          </a:p>
          <a:p>
            <a:pPr>
              <a:spcAft>
                <a:spcPts val="800"/>
              </a:spcAft>
              <a:defRPr sz="1100">
                <a:latin typeface="Arial"/>
              </a:defRPr>
            </a:pPr>
            <a:r>
              <a:rPr b="1">
                <a:solidFill>
                  <a:srgbClr val="38BDF8"/>
                </a:solidFill>
              </a:rPr>
              <a:t>• </a:t>
            </a:r>
            <a:r>
              <a:rPr b="1">
                <a:solidFill>
                  <a:srgbClr val="F8FAFC"/>
                </a:solidFill>
              </a:rPr>
              <a:t>React 19.3.0 &amp; TypeScript 5: </a:t>
            </a:r>
            <a:r>
              <a:rPr>
                <a:solidFill>
                  <a:srgbClr val="94A3B8"/>
                </a:solidFill>
              </a:rPr>
              <a:t>Modern concurrent features, server actions, and end-to-end strict static type safety.</a:t>
            </a:r>
          </a:p>
          <a:p>
            <a:pPr>
              <a:spcAft>
                <a:spcPts val="800"/>
              </a:spcAft>
              <a:defRPr sz="1100">
                <a:latin typeface="Arial"/>
              </a:defRPr>
            </a:pPr>
            <a:r>
              <a:rPr b="1">
                <a:solidFill>
                  <a:srgbClr val="38BDF8"/>
                </a:solidFill>
              </a:rPr>
              <a:t>• </a:t>
            </a:r>
            <a:r>
              <a:rPr b="1">
                <a:solidFill>
                  <a:srgbClr val="F8FAFC"/>
                </a:solidFill>
              </a:rPr>
              <a:t>Tailwind CSS v4: </a:t>
            </a:r>
            <a:r>
              <a:rPr>
                <a:solidFill>
                  <a:srgbClr val="94A3B8"/>
                </a:solidFill>
              </a:rPr>
              <a:t>Next-gen CSS engine with zero-runtime utility styling and custom design tokens.</a:t>
            </a:r>
          </a:p>
          <a:p>
            <a:pPr>
              <a:spcAft>
                <a:spcPts val="800"/>
              </a:spcAft>
              <a:defRPr sz="1100">
                <a:latin typeface="Arial"/>
              </a:defRPr>
            </a:pPr>
            <a:r>
              <a:rPr b="1">
                <a:solidFill>
                  <a:srgbClr val="38BDF8"/>
                </a:solidFill>
              </a:rPr>
              <a:t>• </a:t>
            </a:r>
            <a:r>
              <a:rPr b="1">
                <a:solidFill>
                  <a:srgbClr val="F8FAFC"/>
                </a:solidFill>
              </a:rPr>
              <a:t>Luxury Glassmorphism UI: </a:t>
            </a:r>
            <a:r>
              <a:rPr>
                <a:solidFill>
                  <a:srgbClr val="94A3B8"/>
                </a:solidFill>
              </a:rPr>
              <a:t>Google Outfit &amp; Plus Jakarta Sans typography, ambient glow cards, and responsive drawer navigation.</a:t>
            </a:r>
          </a:p>
          <a:p>
            <a:pPr>
              <a:spcAft>
                <a:spcPts val="800"/>
              </a:spcAft>
              <a:defRPr sz="1100">
                <a:latin typeface="Arial"/>
              </a:defRPr>
            </a:pPr>
            <a:r>
              <a:rPr b="1">
                <a:solidFill>
                  <a:srgbClr val="38BDF8"/>
                </a:solidFill>
              </a:rPr>
              <a:t>• </a:t>
            </a:r>
            <a:r>
              <a:rPr b="1">
                <a:solidFill>
                  <a:srgbClr val="F8FAFC"/>
                </a:solidFill>
              </a:rPr>
              <a:t>Framer Motion &amp; Lucide: </a:t>
            </a:r>
            <a:r>
              <a:rPr>
                <a:solidFill>
                  <a:srgbClr val="94A3B8"/>
                </a:solidFill>
              </a:rPr>
              <a:t>Polished micro-animations, glowing live auction badges, and clean iconography.</a:t>
            </a:r>
          </a:p>
        </p:txBody>
      </p:sp>
      <p:sp>
        <p:nvSpPr>
          <p:cNvPr id="9" name="Rounded Rectangle 8"/>
          <p:cNvSpPr/>
          <p:nvPr/>
        </p:nvSpPr>
        <p:spPr>
          <a:xfrm>
            <a:off x="4425696"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62856" y="2011679"/>
            <a:ext cx="30632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Backend API &amp; AI Engine</a:t>
            </a:r>
          </a:p>
        </p:txBody>
      </p:sp>
      <p:sp>
        <p:nvSpPr>
          <p:cNvPr id="11" name="TextBox 10"/>
          <p:cNvSpPr txBox="1"/>
          <p:nvPr/>
        </p:nvSpPr>
        <p:spPr>
          <a:xfrm>
            <a:off x="4608576"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Next.js Server Route Handlers: </a:t>
            </a:r>
            <a:r>
              <a:rPr>
                <a:solidFill>
                  <a:srgbClr val="94A3B8"/>
                </a:solidFill>
              </a:rPr>
              <a:t>High-speed Edge and Node runtime API endpoints for auth, bidding, chat, and admin actions.</a:t>
            </a:r>
          </a:p>
          <a:p>
            <a:pPr>
              <a:spcAft>
                <a:spcPts val="800"/>
              </a:spcAft>
              <a:defRPr sz="1100">
                <a:latin typeface="Arial"/>
              </a:defRPr>
            </a:pPr>
            <a:r>
              <a:rPr b="1">
                <a:solidFill>
                  <a:srgbClr val="818CF8"/>
                </a:solidFill>
              </a:rPr>
              <a:t>• </a:t>
            </a:r>
            <a:r>
              <a:rPr b="1">
                <a:solidFill>
                  <a:srgbClr val="F8FAFC"/>
                </a:solidFill>
              </a:rPr>
              <a:t>Google Gemini 2.5 Flash: </a:t>
            </a:r>
            <a:r>
              <a:rPr>
                <a:solidFill>
                  <a:srgbClr val="94A3B8"/>
                </a:solidFill>
              </a:rPr>
              <a:t>Official @google/genai SDK; server-shielded API key via POST /api/ai/chat with markdown stream rendering.</a:t>
            </a:r>
          </a:p>
          <a:p>
            <a:pPr>
              <a:spcAft>
                <a:spcPts val="800"/>
              </a:spcAft>
              <a:defRPr sz="1100">
                <a:latin typeface="Arial"/>
              </a:defRPr>
            </a:pPr>
            <a:r>
              <a:rPr b="1">
                <a:solidFill>
                  <a:srgbClr val="818CF8"/>
                </a:solidFill>
              </a:rPr>
              <a:t>• </a:t>
            </a:r>
            <a:r>
              <a:rPr b="1">
                <a:solidFill>
                  <a:srgbClr val="F8FAFC"/>
                </a:solidFill>
              </a:rPr>
              <a:t>Vercel Scheduled Cron: </a:t>
            </a:r>
            <a:r>
              <a:rPr>
                <a:solidFill>
                  <a:srgbClr val="94A3B8"/>
                </a:solidFill>
              </a:rPr>
              <a:t>Automated worker (/api/auctions/process-expirations) finalizing expired auctions and triggering winner notifications.</a:t>
            </a:r>
          </a:p>
          <a:p>
            <a:pPr>
              <a:spcAft>
                <a:spcPts val="800"/>
              </a:spcAft>
              <a:defRPr sz="1100">
                <a:latin typeface="Arial"/>
              </a:defRPr>
            </a:pPr>
            <a:r>
              <a:rPr b="1">
                <a:solidFill>
                  <a:srgbClr val="818CF8"/>
                </a:solidFill>
              </a:rPr>
              <a:t>• </a:t>
            </a:r>
            <a:r>
              <a:rPr b="1">
                <a:solidFill>
                  <a:srgbClr val="F8FAFC"/>
                </a:solidFill>
              </a:rPr>
              <a:t>Contact Leak Regex Scanner: </a:t>
            </a:r>
            <a:r>
              <a:rPr>
                <a:solidFill>
                  <a:srgbClr val="94A3B8"/>
                </a:solidFill>
              </a:rPr>
              <a:t>Client-side pre-send parsing identifying phone numbers, WhatsApp, and external email addresses.</a:t>
            </a:r>
          </a:p>
          <a:p>
            <a:pPr>
              <a:spcAft>
                <a:spcPts val="800"/>
              </a:spcAft>
              <a:defRPr sz="1100">
                <a:latin typeface="Arial"/>
              </a:defRPr>
            </a:pPr>
            <a:r>
              <a:rPr b="1">
                <a:solidFill>
                  <a:srgbClr val="818CF8"/>
                </a:solidFill>
              </a:rPr>
              <a:t>• </a:t>
            </a:r>
            <a:r>
              <a:rPr b="1">
                <a:solidFill>
                  <a:srgbClr val="F8FAFC"/>
                </a:solidFill>
              </a:rPr>
              <a:t>Auth Context &amp; Switcher: </a:t>
            </a:r>
            <a:r>
              <a:rPr>
                <a:solidFill>
                  <a:srgbClr val="94A3B8"/>
                </a:solidFill>
              </a:rPr>
              <a:t>Supabase Auth with reactive fallback and instant 5-persona demo role switcher.</a:t>
            </a:r>
          </a:p>
        </p:txBody>
      </p:sp>
      <p:sp>
        <p:nvSpPr>
          <p:cNvPr id="12" name="Rounded Rectangle 11"/>
          <p:cNvSpPr/>
          <p:nvPr/>
        </p:nvSpPr>
        <p:spPr>
          <a:xfrm>
            <a:off x="8119872"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57032" y="2011679"/>
            <a:ext cx="30632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Database &amp; Storage Layer</a:t>
            </a:r>
          </a:p>
        </p:txBody>
      </p:sp>
      <p:sp>
        <p:nvSpPr>
          <p:cNvPr id="14" name="TextBox 13"/>
          <p:cNvSpPr txBox="1"/>
          <p:nvPr/>
        </p:nvSpPr>
        <p:spPr>
          <a:xfrm>
            <a:off x="8302752"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Supabase PostgreSQL 15: </a:t>
            </a:r>
            <a:r>
              <a:rPr>
                <a:solidFill>
                  <a:srgbClr val="94A3B8"/>
                </a:solidFill>
              </a:rPr>
              <a:t>12 normalized relational tables: profiles, listings, bids, messages, reports, audit logs, etc.</a:t>
            </a:r>
          </a:p>
          <a:p>
            <a:pPr>
              <a:spcAft>
                <a:spcPts val="800"/>
              </a:spcAft>
              <a:defRPr sz="1100">
                <a:latin typeface="Arial"/>
              </a:defRPr>
            </a:pPr>
            <a:r>
              <a:rPr b="1">
                <a:solidFill>
                  <a:srgbClr val="34D399"/>
                </a:solidFill>
              </a:rPr>
              <a:t>• </a:t>
            </a:r>
            <a:r>
              <a:rPr b="1">
                <a:solidFill>
                  <a:srgbClr val="F8FAFC"/>
                </a:solidFill>
              </a:rPr>
              <a:t>100% Row-Level Security (RLS): </a:t>
            </a:r>
            <a:r>
              <a:rPr>
                <a:solidFill>
                  <a:srgbClr val="94A3B8"/>
                </a:solidFill>
              </a:rPr>
              <a:t>Database-enforced isolation ensuring students only modify their own items and read their own chats.</a:t>
            </a:r>
          </a:p>
          <a:p>
            <a:pPr>
              <a:spcAft>
                <a:spcPts val="800"/>
              </a:spcAft>
              <a:defRPr sz="1100">
                <a:latin typeface="Arial"/>
              </a:defRPr>
            </a:pPr>
            <a:r>
              <a:rPr b="1">
                <a:solidFill>
                  <a:srgbClr val="34D399"/>
                </a:solidFill>
              </a:rPr>
              <a:t>• </a:t>
            </a:r>
            <a:r>
              <a:rPr b="1">
                <a:solidFill>
                  <a:srgbClr val="F8FAFC"/>
                </a:solidFill>
              </a:rPr>
              <a:t>Atomic Stored Procedures: </a:t>
            </a:r>
            <a:r>
              <a:rPr>
                <a:solidFill>
                  <a:srgbClr val="94A3B8"/>
                </a:solidFill>
              </a:rPr>
              <a:t>PostgreSQL place_auction_bid() function preventing race conditions and enforcing anti-sniping rules.</a:t>
            </a:r>
          </a:p>
          <a:p>
            <a:pPr>
              <a:spcAft>
                <a:spcPts val="800"/>
              </a:spcAft>
              <a:defRPr sz="1100">
                <a:latin typeface="Arial"/>
              </a:defRPr>
            </a:pPr>
            <a:r>
              <a:rPr b="1">
                <a:solidFill>
                  <a:srgbClr val="34D399"/>
                </a:solidFill>
              </a:rPr>
              <a:t>• </a:t>
            </a:r>
            <a:r>
              <a:rPr b="1">
                <a:solidFill>
                  <a:srgbClr val="F8FAFC"/>
                </a:solidFill>
              </a:rPr>
              <a:t>Supabase Storage Bucket: </a:t>
            </a:r>
            <a:r>
              <a:rPr>
                <a:solidFill>
                  <a:srgbClr val="94A3B8"/>
                </a:solidFill>
              </a:rPr>
              <a:t>Public listing-images bucket with 5MB upload ceilings and strict image MIME validation.</a:t>
            </a:r>
          </a:p>
          <a:p>
            <a:pPr>
              <a:spcAft>
                <a:spcPts val="800"/>
              </a:spcAft>
              <a:defRPr sz="1100">
                <a:latin typeface="Arial"/>
              </a:defRPr>
            </a:pPr>
            <a:r>
              <a:rPr b="1">
                <a:solidFill>
                  <a:srgbClr val="34D399"/>
                </a:solidFill>
              </a:rPr>
              <a:t>• </a:t>
            </a:r>
            <a:r>
              <a:rPr b="1">
                <a:solidFill>
                  <a:srgbClr val="F8FAFC"/>
                </a:solidFill>
              </a:rPr>
              <a:t>Database Triggers: </a:t>
            </a:r>
            <a:r>
              <a:rPr>
                <a:solidFill>
                  <a:srgbClr val="94A3B8"/>
                </a:solidFill>
              </a:rPr>
              <a:t>Automatic profile creation trigger handle_new_user() synced with auth.users.</a:t>
            </a:r>
          </a:p>
        </p:txBody>
      </p:sp>
      <p:sp>
        <p:nvSpPr>
          <p:cNvPr id="15" name="Rectangle 14"/>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7" name="TextBox 16"/>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4 of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SOFTWARE ENGINEERING INNOVATION</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Zero-Friction Dual-Mode Persistence Architecture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Engineered for instant evaluation, zero-setup grading defense, and enterprise cloud scalability</a:t>
            </a:r>
          </a:p>
        </p:txBody>
      </p:sp>
      <p:sp>
        <p:nvSpPr>
          <p:cNvPr id="6" name="Rounded Rectangle 5"/>
          <p:cNvSpPr/>
          <p:nvPr/>
        </p:nvSpPr>
        <p:spPr>
          <a:xfrm>
            <a:off x="73152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Live Cloud Production Mode</a:t>
            </a:r>
          </a:p>
        </p:txBody>
      </p:sp>
      <p:sp>
        <p:nvSpPr>
          <p:cNvPr id="8" name="TextBox 7"/>
          <p:cNvSpPr txBox="1"/>
          <p:nvPr/>
        </p:nvSpPr>
        <p:spPr>
          <a:xfrm>
            <a:off x="91440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Supabase PostgreSQL Sync: </a:t>
            </a:r>
            <a:r>
              <a:rPr>
                <a:solidFill>
                  <a:srgbClr val="94A3B8"/>
                </a:solidFill>
              </a:rPr>
              <a:t>Activates automatically when NEXT_PUBLIC_SUPABASE_URL and Anon Keys are supplied in .env.local.</a:t>
            </a:r>
          </a:p>
          <a:p>
            <a:pPr>
              <a:spcAft>
                <a:spcPts val="800"/>
              </a:spcAft>
              <a:defRPr sz="1100">
                <a:latin typeface="Arial"/>
              </a:defRPr>
            </a:pPr>
            <a:r>
              <a:rPr b="1">
                <a:solidFill>
                  <a:srgbClr val="38BDF8"/>
                </a:solidFill>
              </a:rPr>
              <a:t>• </a:t>
            </a:r>
            <a:r>
              <a:rPr b="1">
                <a:solidFill>
                  <a:srgbClr val="F8FAFC"/>
                </a:solidFill>
              </a:rPr>
              <a:t>True RLS Enforcement: </a:t>
            </a:r>
            <a:r>
              <a:rPr>
                <a:solidFill>
                  <a:srgbClr val="94A3B8"/>
                </a:solidFill>
              </a:rPr>
              <a:t>Policies execute directly inside PostgreSQL kernel; prevents data leakage even if frontend code is bypassed.</a:t>
            </a:r>
          </a:p>
          <a:p>
            <a:pPr>
              <a:spcAft>
                <a:spcPts val="800"/>
              </a:spcAft>
              <a:defRPr sz="1100">
                <a:latin typeface="Arial"/>
              </a:defRPr>
            </a:pPr>
            <a:r>
              <a:rPr b="1">
                <a:solidFill>
                  <a:srgbClr val="38BDF8"/>
                </a:solidFill>
              </a:rPr>
              <a:t>• </a:t>
            </a:r>
            <a:r>
              <a:rPr b="1">
                <a:solidFill>
                  <a:srgbClr val="F8FAFC"/>
                </a:solidFill>
              </a:rPr>
              <a:t>Real Authentication: </a:t>
            </a:r>
            <a:r>
              <a:rPr>
                <a:solidFill>
                  <a:srgbClr val="94A3B8"/>
                </a:solidFill>
              </a:rPr>
              <a:t>Full magic link and credential confirmation via Supabase Auth services.</a:t>
            </a:r>
          </a:p>
          <a:p>
            <a:pPr>
              <a:spcAft>
                <a:spcPts val="800"/>
              </a:spcAft>
              <a:defRPr sz="1100">
                <a:latin typeface="Arial"/>
              </a:defRPr>
            </a:pPr>
            <a:r>
              <a:rPr b="1">
                <a:solidFill>
                  <a:srgbClr val="38BDF8"/>
                </a:solidFill>
              </a:rPr>
              <a:t>• </a:t>
            </a:r>
            <a:r>
              <a:rPr b="1">
                <a:solidFill>
                  <a:srgbClr val="F8FAFC"/>
                </a:solidFill>
              </a:rPr>
              <a:t>Cloud Object Storage: </a:t>
            </a:r>
            <a:r>
              <a:rPr>
                <a:solidFill>
                  <a:srgbClr val="94A3B8"/>
                </a:solidFill>
              </a:rPr>
              <a:t>Images upload directly to listing-images bucket with authenticated ownership controls.</a:t>
            </a:r>
          </a:p>
        </p:txBody>
      </p:sp>
      <p:sp>
        <p:nvSpPr>
          <p:cNvPr id="9" name="Rounded Rectangle 8"/>
          <p:cNvSpPr/>
          <p:nvPr/>
        </p:nvSpPr>
        <p:spPr>
          <a:xfrm>
            <a:off x="626364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Zero-Config In-Memory Fallback Mode</a:t>
            </a:r>
          </a:p>
        </p:txBody>
      </p:sp>
      <p:sp>
        <p:nvSpPr>
          <p:cNvPr id="11" name="TextBox 10"/>
          <p:cNvSpPr txBox="1"/>
          <p:nvPr/>
        </p:nvSpPr>
        <p:spPr>
          <a:xfrm>
            <a:off x="644652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Out-of-the-Box Execution: </a:t>
            </a:r>
            <a:r>
              <a:rPr>
                <a:solidFill>
                  <a:srgbClr val="94A3B8"/>
                </a:solidFill>
              </a:rPr>
              <a:t>Runs immediately upon cloning without requiring external database provisioning or API credentials.</a:t>
            </a:r>
          </a:p>
          <a:p>
            <a:pPr>
              <a:spcAft>
                <a:spcPts val="800"/>
              </a:spcAft>
              <a:defRPr sz="1100">
                <a:latin typeface="Arial"/>
              </a:defRPr>
            </a:pPr>
            <a:r>
              <a:rPr b="1">
                <a:solidFill>
                  <a:srgbClr val="34D399"/>
                </a:solidFill>
              </a:rPr>
              <a:t>• </a:t>
            </a:r>
            <a:r>
              <a:rPr b="1">
                <a:solidFill>
                  <a:srgbClr val="F8FAFC"/>
                </a:solidFill>
              </a:rPr>
              <a:t>Reactive In-Memory &amp; LocalStorage: </a:t>
            </a:r>
            <a:r>
              <a:rPr>
                <a:solidFill>
                  <a:srgbClr val="94A3B8"/>
                </a:solidFill>
              </a:rPr>
              <a:t>All created listings, bids, messages, and reservations update reactively in browser memory.</a:t>
            </a:r>
          </a:p>
          <a:p>
            <a:pPr>
              <a:spcAft>
                <a:spcPts val="800"/>
              </a:spcAft>
              <a:defRPr sz="1100">
                <a:latin typeface="Arial"/>
              </a:defRPr>
            </a:pPr>
            <a:r>
              <a:rPr b="1">
                <a:solidFill>
                  <a:srgbClr val="34D399"/>
                </a:solidFill>
              </a:rPr>
              <a:t>• </a:t>
            </a:r>
            <a:r>
              <a:rPr b="1">
                <a:solidFill>
                  <a:srgbClr val="F8FAFC"/>
                </a:solidFill>
              </a:rPr>
              <a:t>Pre-Seeded Realism: </a:t>
            </a:r>
            <a:r>
              <a:rPr>
                <a:solidFill>
                  <a:srgbClr val="94A3B8"/>
                </a:solidFill>
              </a:rPr>
              <a:t>Populated with 8 realistic campus listings across 4 categories and 4 live auctions.</a:t>
            </a:r>
          </a:p>
          <a:p>
            <a:pPr>
              <a:spcAft>
                <a:spcPts val="800"/>
              </a:spcAft>
              <a:defRPr sz="1100">
                <a:latin typeface="Arial"/>
              </a:defRPr>
            </a:pPr>
            <a:r>
              <a:rPr b="1">
                <a:solidFill>
                  <a:srgbClr val="34D399"/>
                </a:solidFill>
              </a:rPr>
              <a:t>• </a:t>
            </a:r>
            <a:r>
              <a:rPr b="1">
                <a:solidFill>
                  <a:srgbClr val="F8FAFC"/>
                </a:solidFill>
              </a:rPr>
              <a:t>Zero Evaluation Friction: </a:t>
            </a:r>
            <a:r>
              <a:rPr>
                <a:solidFill>
                  <a:srgbClr val="94A3B8"/>
                </a:solidFill>
              </a:rPr>
              <a:t>Committee members can grade and inspect full functionality in under 30 seconds.</a:t>
            </a:r>
          </a:p>
        </p:txBody>
      </p:sp>
      <p:sp>
        <p:nvSpPr>
          <p:cNvPr id="12" name="Rounded Rectangle 11"/>
          <p:cNvSpPr/>
          <p:nvPr/>
        </p:nvSpPr>
        <p:spPr>
          <a:xfrm>
            <a:off x="731520" y="4069080"/>
            <a:ext cx="1069848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206240"/>
            <a:ext cx="10424159"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Integrated 5-Persona Demo Role Switcher (Instant Context Switching)</a:t>
            </a:r>
          </a:p>
        </p:txBody>
      </p:sp>
      <p:sp>
        <p:nvSpPr>
          <p:cNvPr id="14" name="TextBox 13"/>
          <p:cNvSpPr txBox="1"/>
          <p:nvPr/>
        </p:nvSpPr>
        <p:spPr>
          <a:xfrm>
            <a:off x="914400" y="4663440"/>
            <a:ext cx="10332719" cy="137160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Alex Chen (CS '25, Stanford): </a:t>
            </a:r>
            <a:r>
              <a:rPr>
                <a:solidFill>
                  <a:srgbClr val="94A3B8"/>
                </a:solidFill>
              </a:rPr>
              <a:t>Tech Seller persona; preloaded with high-value M2 MacBook Pro (Auction) and Sony WH-1000XM4 listings.</a:t>
            </a:r>
          </a:p>
          <a:p>
            <a:pPr>
              <a:spcAft>
                <a:spcPts val="800"/>
              </a:spcAft>
              <a:defRPr sz="1100">
                <a:latin typeface="Arial"/>
              </a:defRPr>
            </a:pPr>
            <a:r>
              <a:rPr b="1">
                <a:solidFill>
                  <a:srgbClr val="818CF8"/>
                </a:solidFill>
              </a:rPr>
              <a:t>• </a:t>
            </a:r>
            <a:r>
              <a:rPr b="1">
                <a:solidFill>
                  <a:srgbClr val="F8FAFC"/>
                </a:solidFill>
              </a:rPr>
              <a:t>Priya Sharma (BioE '26, UC Berkeley): </a:t>
            </a:r>
            <a:r>
              <a:rPr>
                <a:solidFill>
                  <a:srgbClr val="94A3B8"/>
                </a:solidFill>
              </a:rPr>
              <a:t>STEM Student persona; preloaded with Organic Chemistry 8th Edition textbook auction and lab kit.</a:t>
            </a:r>
          </a:p>
          <a:p>
            <a:pPr>
              <a:spcAft>
                <a:spcPts val="800"/>
              </a:spcAft>
              <a:defRPr sz="1100">
                <a:latin typeface="Arial"/>
              </a:defRPr>
            </a:pPr>
            <a:r>
              <a:rPr b="1">
                <a:solidFill>
                  <a:srgbClr val="818CF8"/>
                </a:solidFill>
              </a:rPr>
              <a:t>• </a:t>
            </a:r>
            <a:r>
              <a:rPr b="1">
                <a:solidFill>
                  <a:srgbClr val="F8FAFC"/>
                </a:solidFill>
              </a:rPr>
              <a:t>Marcus Johnson (MechE '27, MIT): </a:t>
            </a:r>
            <a:r>
              <a:rPr>
                <a:solidFill>
                  <a:srgbClr val="94A3B8"/>
                </a:solidFill>
              </a:rPr>
              <a:t>Active Bidder persona; preloaded with Calculus 9th Ed auction and Herman Miller Aeron desk chair.</a:t>
            </a:r>
          </a:p>
          <a:p>
            <a:pPr>
              <a:spcAft>
                <a:spcPts val="800"/>
              </a:spcAft>
              <a:defRPr sz="1100">
                <a:latin typeface="Arial"/>
              </a:defRPr>
            </a:pPr>
            <a:r>
              <a:rPr b="1">
                <a:solidFill>
                  <a:srgbClr val="818CF8"/>
                </a:solidFill>
              </a:rPr>
              <a:t>• </a:t>
            </a:r>
            <a:r>
              <a:rPr b="1">
                <a:solidFill>
                  <a:srgbClr val="F8FAFC"/>
                </a:solidFill>
              </a:rPr>
              <a:t>Sophia Rodriguez (Design '25, Columbia): </a:t>
            </a:r>
            <a:r>
              <a:rPr>
                <a:solidFill>
                  <a:srgbClr val="94A3B8"/>
                </a:solidFill>
              </a:rPr>
              <a:t>Dorm Seller persona; preloaded with iPad Air 5th Gen live auction and compact dorm mini-fridge.</a:t>
            </a:r>
          </a:p>
          <a:p>
            <a:pPr>
              <a:spcAft>
                <a:spcPts val="800"/>
              </a:spcAft>
              <a:defRPr sz="1100">
                <a:latin typeface="Arial"/>
              </a:defRPr>
            </a:pPr>
            <a:r>
              <a:rPr b="1">
                <a:solidFill>
                  <a:srgbClr val="818CF8"/>
                </a:solidFill>
              </a:rPr>
              <a:t>• </a:t>
            </a:r>
            <a:r>
              <a:rPr b="1">
                <a:solidFill>
                  <a:srgbClr val="F8FAFC"/>
                </a:solidFill>
              </a:rPr>
              <a:t>Admin Moderator (Campus Operations): </a:t>
            </a:r>
            <a:r>
              <a:rPr>
                <a:solidFill>
                  <a:srgbClr val="94A3B8"/>
                </a:solidFill>
              </a:rPr>
              <a:t>Security &amp; Operations role; unlocks complete administrative access to the /admin Moderation Center.</a:t>
            </a:r>
          </a:p>
        </p:txBody>
      </p:sp>
      <p:sp>
        <p:nvSpPr>
          <p:cNvPr id="15" name="Rectangle 14"/>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7" name="TextBox 16"/>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5 of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ALGORITHMS &amp; CONCURRENCY</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Real-Time Auction Engine &amp; Anti-Sniping Protocol</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Preventing automated bot sniping, enforcing atomic bidding locks, and automating auction resolution</a:t>
            </a:r>
          </a:p>
        </p:txBody>
      </p:sp>
      <p:sp>
        <p:nvSpPr>
          <p:cNvPr id="6" name="Rounded Rectangle 5"/>
          <p:cNvSpPr/>
          <p:nvPr/>
        </p:nvSpPr>
        <p:spPr>
          <a:xfrm>
            <a:off x="731520"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30632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Real-Time Auction Features</a:t>
            </a:r>
          </a:p>
        </p:txBody>
      </p:sp>
      <p:sp>
        <p:nvSpPr>
          <p:cNvPr id="8" name="TextBox 7"/>
          <p:cNvSpPr txBox="1"/>
          <p:nvPr/>
        </p:nvSpPr>
        <p:spPr>
          <a:xfrm>
            <a:off x="914400"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Dynamic Live Countdown: </a:t>
            </a:r>
            <a:r>
              <a:rPr>
                <a:solidFill>
                  <a:srgbClr val="94A3B8"/>
                </a:solidFill>
              </a:rPr>
              <a:t>Client clocks render HH:MM:SS with synchronized server timestamps and visual urgency indicators.</a:t>
            </a:r>
          </a:p>
          <a:p>
            <a:pPr>
              <a:spcAft>
                <a:spcPts val="800"/>
              </a:spcAft>
              <a:defRPr sz="1100">
                <a:latin typeface="Arial"/>
              </a:defRPr>
            </a:pPr>
            <a:r>
              <a:rPr b="1">
                <a:solidFill>
                  <a:srgbClr val="38BDF8"/>
                </a:solidFill>
              </a:rPr>
              <a:t>• </a:t>
            </a:r>
            <a:r>
              <a:rPr b="1">
                <a:solidFill>
                  <a:srgbClr val="F8FAFC"/>
                </a:solidFill>
              </a:rPr>
              <a:t>Live Bid Stream: </a:t>
            </a:r>
            <a:r>
              <a:rPr>
                <a:solidFill>
                  <a:srgbClr val="94A3B8"/>
                </a:solidFill>
              </a:rPr>
              <a:t>Displays chronological bid history with timestamps and privacy-obfuscated student handles (e.g. a***n@stanford.edu).</a:t>
            </a:r>
          </a:p>
          <a:p>
            <a:pPr>
              <a:spcAft>
                <a:spcPts val="800"/>
              </a:spcAft>
              <a:defRPr sz="1100">
                <a:latin typeface="Arial"/>
              </a:defRPr>
            </a:pPr>
            <a:r>
              <a:rPr b="1">
                <a:solidFill>
                  <a:srgbClr val="38BDF8"/>
                </a:solidFill>
              </a:rPr>
              <a:t>• </a:t>
            </a:r>
            <a:r>
              <a:rPr b="1">
                <a:solidFill>
                  <a:srgbClr val="F8FAFC"/>
                </a:solidFill>
              </a:rPr>
              <a:t>Minimum Increment Logic: </a:t>
            </a:r>
            <a:r>
              <a:rPr>
                <a:solidFill>
                  <a:srgbClr val="94A3B8"/>
                </a:solidFill>
              </a:rPr>
              <a:t>Automatically calculates required next bid: current_bid + min_increment (e.g., +₹100 or +₹500).</a:t>
            </a:r>
          </a:p>
          <a:p>
            <a:pPr>
              <a:spcAft>
                <a:spcPts val="800"/>
              </a:spcAft>
              <a:defRPr sz="1100">
                <a:latin typeface="Arial"/>
              </a:defRPr>
            </a:pPr>
            <a:r>
              <a:rPr b="1">
                <a:solidFill>
                  <a:srgbClr val="38BDF8"/>
                </a:solidFill>
              </a:rPr>
              <a:t>• </a:t>
            </a:r>
            <a:r>
              <a:rPr b="1">
                <a:solidFill>
                  <a:srgbClr val="F8FAFC"/>
                </a:solidFill>
              </a:rPr>
              <a:t>Optional Buy-Now Price: </a:t>
            </a:r>
            <a:r>
              <a:rPr>
                <a:solidFill>
                  <a:srgbClr val="94A3B8"/>
                </a:solidFill>
              </a:rPr>
              <a:t>Allows buyers to bypass the auction and lock the purchase immediately at seller's ceiling price.</a:t>
            </a:r>
          </a:p>
        </p:txBody>
      </p:sp>
      <p:sp>
        <p:nvSpPr>
          <p:cNvPr id="9" name="Rounded Rectangle 8"/>
          <p:cNvSpPr/>
          <p:nvPr/>
        </p:nvSpPr>
        <p:spPr>
          <a:xfrm>
            <a:off x="4425696"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62856" y="2011679"/>
            <a:ext cx="30632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The Anti-Sniping Guarantee</a:t>
            </a:r>
          </a:p>
        </p:txBody>
      </p:sp>
      <p:sp>
        <p:nvSpPr>
          <p:cNvPr id="11" name="TextBox 10"/>
          <p:cNvSpPr txBox="1"/>
          <p:nvPr/>
        </p:nvSpPr>
        <p:spPr>
          <a:xfrm>
            <a:off x="4608576"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The Problem in Traditional Auctions: </a:t>
            </a:r>
            <a:r>
              <a:rPr>
                <a:solidFill>
                  <a:srgbClr val="94A3B8"/>
                </a:solidFill>
              </a:rPr>
              <a:t>Bots and predatory bidders place bids in the last 2 seconds on platforms like eBay, denying students a fair chance.</a:t>
            </a:r>
          </a:p>
          <a:p>
            <a:pPr>
              <a:spcAft>
                <a:spcPts val="800"/>
              </a:spcAft>
              <a:defRPr sz="1100">
                <a:latin typeface="Arial"/>
              </a:defRPr>
            </a:pPr>
            <a:r>
              <a:rPr b="1">
                <a:solidFill>
                  <a:srgbClr val="FBBF24"/>
                </a:solidFill>
              </a:rPr>
              <a:t>• </a:t>
            </a:r>
            <a:r>
              <a:rPr b="1">
                <a:solidFill>
                  <a:srgbClr val="F8FAFC"/>
                </a:solidFill>
              </a:rPr>
              <a:t>Automatic 3-Minute Extension: </a:t>
            </a:r>
            <a:r>
              <a:rPr>
                <a:solidFill>
                  <a:srgbClr val="94A3B8"/>
                </a:solidFill>
              </a:rPr>
              <a:t>If any bid is submitted within the final 2 minutes, the database automatically extends the auction deadline by +3 minutes.</a:t>
            </a:r>
          </a:p>
          <a:p>
            <a:pPr>
              <a:spcAft>
                <a:spcPts val="800"/>
              </a:spcAft>
              <a:defRPr sz="1100">
                <a:latin typeface="Arial"/>
              </a:defRPr>
            </a:pPr>
            <a:r>
              <a:rPr b="1">
                <a:solidFill>
                  <a:srgbClr val="FBBF24"/>
                </a:solidFill>
              </a:rPr>
              <a:t>• </a:t>
            </a:r>
            <a:r>
              <a:rPr b="1">
                <a:solidFill>
                  <a:srgbClr val="F8FAFC"/>
                </a:solidFill>
              </a:rPr>
              <a:t>Fair Market Price Discovery: </a:t>
            </a:r>
            <a:r>
              <a:rPr>
                <a:solidFill>
                  <a:srgbClr val="94A3B8"/>
                </a:solidFill>
              </a:rPr>
              <a:t>Ensures all interested student bidders have time to counter-bid, maximizing revenue for student sellers.</a:t>
            </a:r>
          </a:p>
          <a:p>
            <a:pPr>
              <a:spcAft>
                <a:spcPts val="800"/>
              </a:spcAft>
              <a:defRPr sz="1100">
                <a:latin typeface="Arial"/>
              </a:defRPr>
            </a:pPr>
            <a:r>
              <a:rPr b="1">
                <a:solidFill>
                  <a:srgbClr val="FBBF24"/>
                </a:solidFill>
              </a:rPr>
              <a:t>• </a:t>
            </a:r>
            <a:r>
              <a:rPr b="1">
                <a:solidFill>
                  <a:srgbClr val="F8FAFC"/>
                </a:solidFill>
              </a:rPr>
              <a:t>Zero Bot Advantage: </a:t>
            </a:r>
            <a:r>
              <a:rPr>
                <a:solidFill>
                  <a:srgbClr val="94A3B8"/>
                </a:solidFill>
              </a:rPr>
              <a:t>Eliminates latency arbitrage and automated scripting advantages completely.</a:t>
            </a:r>
          </a:p>
        </p:txBody>
      </p:sp>
      <p:sp>
        <p:nvSpPr>
          <p:cNvPr id="12" name="Rounded Rectangle 11"/>
          <p:cNvSpPr/>
          <p:nvPr/>
        </p:nvSpPr>
        <p:spPr>
          <a:xfrm>
            <a:off x="8119872"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57032" y="2011679"/>
            <a:ext cx="30632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Database Concurrency &amp; Expiration</a:t>
            </a:r>
          </a:p>
        </p:txBody>
      </p:sp>
      <p:sp>
        <p:nvSpPr>
          <p:cNvPr id="14" name="TextBox 13"/>
          <p:cNvSpPr txBox="1"/>
          <p:nvPr/>
        </p:nvSpPr>
        <p:spPr>
          <a:xfrm>
            <a:off x="8302752"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Atomic Stored Procedure: </a:t>
            </a:r>
            <a:r>
              <a:rPr>
                <a:solidFill>
                  <a:srgbClr val="94A3B8"/>
                </a:solidFill>
              </a:rPr>
              <a:t>PostgreSQL place_auction_bid() wraps bid updates in transaction locks to prevent race conditions.</a:t>
            </a:r>
          </a:p>
          <a:p>
            <a:pPr>
              <a:spcAft>
                <a:spcPts val="800"/>
              </a:spcAft>
              <a:defRPr sz="1100">
                <a:latin typeface="Arial"/>
              </a:defRPr>
            </a:pPr>
            <a:r>
              <a:rPr b="1">
                <a:solidFill>
                  <a:srgbClr val="34D399"/>
                </a:solidFill>
              </a:rPr>
              <a:t>• </a:t>
            </a:r>
            <a:r>
              <a:rPr b="1">
                <a:solidFill>
                  <a:srgbClr val="F8FAFC"/>
                </a:solidFill>
              </a:rPr>
              <a:t>Strict Anti-Shill Rules: </a:t>
            </a:r>
            <a:r>
              <a:rPr>
                <a:solidFill>
                  <a:srgbClr val="94A3B8"/>
                </a:solidFill>
              </a:rPr>
              <a:t>Sellers are prohibited from bidding on their own listings; verified at both UI and database levels.</a:t>
            </a:r>
          </a:p>
          <a:p>
            <a:pPr>
              <a:spcAft>
                <a:spcPts val="800"/>
              </a:spcAft>
              <a:defRPr sz="1100">
                <a:latin typeface="Arial"/>
              </a:defRPr>
            </a:pPr>
            <a:r>
              <a:rPr b="1">
                <a:solidFill>
                  <a:srgbClr val="34D399"/>
                </a:solidFill>
              </a:rPr>
              <a:t>• </a:t>
            </a:r>
            <a:r>
              <a:rPr b="1">
                <a:solidFill>
                  <a:srgbClr val="F8FAFC"/>
                </a:solidFill>
              </a:rPr>
              <a:t>Vercel Scheduled Worker: </a:t>
            </a:r>
            <a:r>
              <a:rPr>
                <a:solidFill>
                  <a:srgbClr val="94A3B8"/>
                </a:solidFill>
              </a:rPr>
              <a:t>Cron job calls /api/auctions/process-expirations every minute with Bearer CRON_SECRET auth.</a:t>
            </a:r>
          </a:p>
          <a:p>
            <a:pPr>
              <a:spcAft>
                <a:spcPts val="800"/>
              </a:spcAft>
              <a:defRPr sz="1100">
                <a:latin typeface="Arial"/>
              </a:defRPr>
            </a:pPr>
            <a:r>
              <a:rPr b="1">
                <a:solidFill>
                  <a:srgbClr val="34D399"/>
                </a:solidFill>
              </a:rPr>
              <a:t>• </a:t>
            </a:r>
            <a:r>
              <a:rPr b="1">
                <a:solidFill>
                  <a:srgbClr val="F8FAFC"/>
                </a:solidFill>
              </a:rPr>
              <a:t>Automatic Finalization: </a:t>
            </a:r>
            <a:r>
              <a:rPr>
                <a:solidFill>
                  <a:srgbClr val="94A3B8"/>
                </a:solidFill>
              </a:rPr>
              <a:t>Identifies expired auctions, marks status as 'sold' or 'expired', assigns winning bidder, and dispatches notifications.</a:t>
            </a:r>
          </a:p>
        </p:txBody>
      </p:sp>
      <p:sp>
        <p:nvSpPr>
          <p:cNvPr id="15" name="Rectangle 14"/>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7" name="TextBox 16"/>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6 of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ARTIFICIAL INTELLIGENCE INTEGRATION</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AI-Powered Campus Commerce Assistant</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Leveraging Google Gemini 2.5 Flash for fair valuations, textbook ISBN lookup, and trade safety advice</a:t>
            </a:r>
          </a:p>
        </p:txBody>
      </p:sp>
      <p:sp>
        <p:nvSpPr>
          <p:cNvPr id="6" name="Rounded Rectangle 5"/>
          <p:cNvSpPr/>
          <p:nvPr/>
        </p:nvSpPr>
        <p:spPr>
          <a:xfrm>
            <a:off x="73152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Shielded Server-Side Architecture</a:t>
            </a:r>
          </a:p>
        </p:txBody>
      </p:sp>
      <p:sp>
        <p:nvSpPr>
          <p:cNvPr id="8" name="TextBox 7"/>
          <p:cNvSpPr txBox="1"/>
          <p:nvPr/>
        </p:nvSpPr>
        <p:spPr>
          <a:xfrm>
            <a:off x="91440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Zero Client Token Exposure: </a:t>
            </a:r>
            <a:r>
              <a:rPr>
                <a:solidFill>
                  <a:srgbClr val="94A3B8"/>
                </a:solidFill>
              </a:rPr>
              <a:t>The GEMINI_API_KEY is stored exclusively in server environment variables; client bundles contain zero credentials.</a:t>
            </a:r>
          </a:p>
          <a:p>
            <a:pPr>
              <a:spcAft>
                <a:spcPts val="800"/>
              </a:spcAft>
              <a:defRPr sz="1100">
                <a:latin typeface="Arial"/>
              </a:defRPr>
            </a:pPr>
            <a:r>
              <a:rPr b="1">
                <a:solidFill>
                  <a:srgbClr val="38BDF8"/>
                </a:solidFill>
              </a:rPr>
              <a:t>• </a:t>
            </a:r>
            <a:r>
              <a:rPr b="1">
                <a:solidFill>
                  <a:srgbClr val="F8FAFC"/>
                </a:solidFill>
              </a:rPr>
              <a:t>Dedicated Next.js Route Handler: </a:t>
            </a:r>
            <a:r>
              <a:rPr>
                <a:solidFill>
                  <a:srgbClr val="94A3B8"/>
                </a:solidFill>
              </a:rPr>
              <a:t>Requests route through POST /api/ai/chat with request sanitation, rate-limiting, and error handling.</a:t>
            </a:r>
          </a:p>
          <a:p>
            <a:pPr>
              <a:spcAft>
                <a:spcPts val="800"/>
              </a:spcAft>
              <a:defRPr sz="1100">
                <a:latin typeface="Arial"/>
              </a:defRPr>
            </a:pPr>
            <a:r>
              <a:rPr b="1">
                <a:solidFill>
                  <a:srgbClr val="38BDF8"/>
                </a:solidFill>
              </a:rPr>
              <a:t>• </a:t>
            </a:r>
            <a:r>
              <a:rPr b="1">
                <a:solidFill>
                  <a:srgbClr val="F8FAFC"/>
                </a:solidFill>
              </a:rPr>
              <a:t>Official Google GenAI SDK: </a:t>
            </a:r>
            <a:r>
              <a:rPr>
                <a:solidFill>
                  <a:srgbClr val="94A3B8"/>
                </a:solidFill>
              </a:rPr>
              <a:t>Built using @google/genai, leveraging Gemini 2.5 Flash for sub-second streaming response times.</a:t>
            </a:r>
          </a:p>
        </p:txBody>
      </p:sp>
      <p:sp>
        <p:nvSpPr>
          <p:cNvPr id="9" name="Rounded Rectangle 8"/>
          <p:cNvSpPr/>
          <p:nvPr/>
        </p:nvSpPr>
        <p:spPr>
          <a:xfrm>
            <a:off x="626364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Domain-Tuned System Prompts</a:t>
            </a:r>
          </a:p>
        </p:txBody>
      </p:sp>
      <p:sp>
        <p:nvSpPr>
          <p:cNvPr id="11" name="TextBox 10"/>
          <p:cNvSpPr txBox="1"/>
          <p:nvPr/>
        </p:nvSpPr>
        <p:spPr>
          <a:xfrm>
            <a:off x="644652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Campus Commerce Specialization: </a:t>
            </a:r>
            <a:r>
              <a:rPr>
                <a:solidFill>
                  <a:srgbClr val="94A3B8"/>
                </a:solidFill>
              </a:rPr>
              <a:t>System prompt primed with university buying cycles, textbook edition variances, and student budget constraints.</a:t>
            </a:r>
          </a:p>
          <a:p>
            <a:pPr>
              <a:spcAft>
                <a:spcPts val="800"/>
              </a:spcAft>
              <a:defRPr sz="1100">
                <a:latin typeface="Arial"/>
              </a:defRPr>
            </a:pPr>
            <a:r>
              <a:rPr b="1">
                <a:solidFill>
                  <a:srgbClr val="818CF8"/>
                </a:solidFill>
              </a:rPr>
              <a:t>• </a:t>
            </a:r>
            <a:r>
              <a:rPr b="1">
                <a:solidFill>
                  <a:srgbClr val="F8FAFC"/>
                </a:solidFill>
              </a:rPr>
              <a:t>Fair Price Valuation: </a:t>
            </a:r>
            <a:r>
              <a:rPr>
                <a:solidFill>
                  <a:srgbClr val="94A3B8"/>
                </a:solidFill>
              </a:rPr>
              <a:t>Estimates fair secondary market prices based on item condition (Brand New to Fair), age, and original MSRP.</a:t>
            </a:r>
          </a:p>
          <a:p>
            <a:pPr>
              <a:spcAft>
                <a:spcPts val="800"/>
              </a:spcAft>
              <a:defRPr sz="1100">
                <a:latin typeface="Arial"/>
              </a:defRPr>
            </a:pPr>
            <a:r>
              <a:rPr b="1">
                <a:solidFill>
                  <a:srgbClr val="818CF8"/>
                </a:solidFill>
              </a:rPr>
              <a:t>• </a:t>
            </a:r>
            <a:r>
              <a:rPr b="1">
                <a:solidFill>
                  <a:srgbClr val="F8FAFC"/>
                </a:solidFill>
              </a:rPr>
              <a:t>Counterfeit &amp; Scam Detection: </a:t>
            </a:r>
            <a:r>
              <a:rPr>
                <a:solidFill>
                  <a:srgbClr val="94A3B8"/>
                </a:solidFill>
              </a:rPr>
              <a:t>Warns students if an offer looks suspicious or if a seller requests off-platform peer-to-peer wire transfers.</a:t>
            </a:r>
          </a:p>
        </p:txBody>
      </p:sp>
      <p:sp>
        <p:nvSpPr>
          <p:cNvPr id="12" name="Rounded Rectangle 11"/>
          <p:cNvSpPr/>
          <p:nvPr/>
        </p:nvSpPr>
        <p:spPr>
          <a:xfrm>
            <a:off x="73152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206240"/>
            <a:ext cx="48920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Interactive UI &amp; 1-Click Prompt Pills</a:t>
            </a:r>
          </a:p>
        </p:txBody>
      </p:sp>
      <p:sp>
        <p:nvSpPr>
          <p:cNvPr id="14" name="TextBox 13"/>
          <p:cNvSpPr txBox="1"/>
          <p:nvPr/>
        </p:nvSpPr>
        <p:spPr>
          <a:xfrm>
            <a:off x="91440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Persistent Slide-Out Drawer: </a:t>
            </a:r>
            <a:r>
              <a:rPr>
                <a:solidFill>
                  <a:srgbClr val="94A3B8"/>
                </a:solidFill>
              </a:rPr>
              <a:t>Accessible from any page via a floating glowing button; seamless desktop and mobile viewports.</a:t>
            </a:r>
          </a:p>
          <a:p>
            <a:pPr>
              <a:spcAft>
                <a:spcPts val="800"/>
              </a:spcAft>
              <a:defRPr sz="1100">
                <a:latin typeface="Arial"/>
              </a:defRPr>
            </a:pPr>
            <a:r>
              <a:rPr b="1">
                <a:solidFill>
                  <a:srgbClr val="34D399"/>
                </a:solidFill>
              </a:rPr>
              <a:t>• </a:t>
            </a:r>
            <a:r>
              <a:rPr b="1">
                <a:solidFill>
                  <a:srgbClr val="F8FAFC"/>
                </a:solidFill>
              </a:rPr>
              <a:t>Contextual Quick Prompts: </a:t>
            </a:r>
            <a:r>
              <a:rPr>
                <a:solidFill>
                  <a:srgbClr val="94A3B8"/>
                </a:solidFill>
              </a:rPr>
              <a:t>Pre-built prompt pills: 'How do auctions work?', 'Price estimate for iPad Air', 'Textbook edition tips', 'Safe meetup spots'.</a:t>
            </a:r>
          </a:p>
          <a:p>
            <a:pPr>
              <a:spcAft>
                <a:spcPts val="800"/>
              </a:spcAft>
              <a:defRPr sz="1100">
                <a:latin typeface="Arial"/>
              </a:defRPr>
            </a:pPr>
            <a:r>
              <a:rPr b="1">
                <a:solidFill>
                  <a:srgbClr val="34D399"/>
                </a:solidFill>
              </a:rPr>
              <a:t>• </a:t>
            </a:r>
            <a:r>
              <a:rPr b="1">
                <a:solidFill>
                  <a:srgbClr val="F8FAFC"/>
                </a:solidFill>
              </a:rPr>
              <a:t>Formatted Markdown Rendering: </a:t>
            </a:r>
            <a:r>
              <a:rPr>
                <a:solidFill>
                  <a:srgbClr val="94A3B8"/>
                </a:solidFill>
              </a:rPr>
              <a:t>Generates bulleted checklists, price ranges, and bold warnings in clean, readable typography.</a:t>
            </a:r>
          </a:p>
        </p:txBody>
      </p:sp>
      <p:sp>
        <p:nvSpPr>
          <p:cNvPr id="15" name="Rounded Rectangle 14"/>
          <p:cNvSpPr/>
          <p:nvPr/>
        </p:nvSpPr>
        <p:spPr>
          <a:xfrm>
            <a:off x="626364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206240"/>
            <a:ext cx="48920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Textbook Edition &amp; Academic Advice</a:t>
            </a:r>
          </a:p>
        </p:txBody>
      </p:sp>
      <p:sp>
        <p:nvSpPr>
          <p:cNvPr id="17" name="TextBox 16"/>
          <p:cNvSpPr txBox="1"/>
          <p:nvPr/>
        </p:nvSpPr>
        <p:spPr>
          <a:xfrm>
            <a:off x="644652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Syllabus &amp; ISBN Intelligence: </a:t>
            </a:r>
            <a:r>
              <a:rPr>
                <a:solidFill>
                  <a:srgbClr val="94A3B8"/>
                </a:solidFill>
              </a:rPr>
              <a:t>Advises students whether an older textbook edition (e.g. 7th vs 8th ed) will suffice for their coursework, saving hundreds of dollars.</a:t>
            </a:r>
          </a:p>
          <a:p>
            <a:pPr>
              <a:spcAft>
                <a:spcPts val="800"/>
              </a:spcAft>
              <a:defRPr sz="1100">
                <a:latin typeface="Arial"/>
              </a:defRPr>
            </a:pPr>
            <a:r>
              <a:rPr b="1">
                <a:solidFill>
                  <a:srgbClr val="FBBF24"/>
                </a:solidFill>
              </a:rPr>
              <a:t>• </a:t>
            </a:r>
            <a:r>
              <a:rPr b="1">
                <a:solidFill>
                  <a:srgbClr val="F8FAFC"/>
                </a:solidFill>
              </a:rPr>
              <a:t>Condition Assessment Guidance: </a:t>
            </a:r>
            <a:r>
              <a:rPr>
                <a:solidFill>
                  <a:srgbClr val="94A3B8"/>
                </a:solidFill>
              </a:rPr>
              <a:t>Guides students on evaluating battery health for used laptops and identifying worn lab equipment.</a:t>
            </a:r>
          </a:p>
          <a:p>
            <a:pPr>
              <a:spcAft>
                <a:spcPts val="800"/>
              </a:spcAft>
              <a:defRPr sz="1100">
                <a:latin typeface="Arial"/>
              </a:defRPr>
            </a:pPr>
            <a:r>
              <a:rPr b="1">
                <a:solidFill>
                  <a:srgbClr val="FBBF24"/>
                </a:solidFill>
              </a:rPr>
              <a:t>• </a:t>
            </a:r>
            <a:r>
              <a:rPr b="1">
                <a:solidFill>
                  <a:srgbClr val="F8FAFC"/>
                </a:solidFill>
              </a:rPr>
              <a:t>Student Negotiation Coaching: </a:t>
            </a:r>
            <a:r>
              <a:rPr>
                <a:solidFill>
                  <a:srgbClr val="94A3B8"/>
                </a:solidFill>
              </a:rPr>
              <a:t>Provides polite, constructive counter-offer phrasing for respectful peer-to-peer transactions.</a:t>
            </a:r>
          </a:p>
        </p:txBody>
      </p:sp>
      <p:sp>
        <p:nvSpPr>
          <p:cNvPr id="18" name="Rectangle 17"/>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20" name="TextBox 19"/>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7 of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CYBERSECURITY &amp; STUDENT WELFARE</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Multi-Layered Trust, Safety &amp; Privacy Architecture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Proactive regex scanners, physical campus safety zones, and strict database row-level isolation</a:t>
            </a:r>
          </a:p>
        </p:txBody>
      </p:sp>
      <p:sp>
        <p:nvSpPr>
          <p:cNvPr id="6" name="Rounded Rectangle 5"/>
          <p:cNvSpPr/>
          <p:nvPr/>
        </p:nvSpPr>
        <p:spPr>
          <a:xfrm>
            <a:off x="73152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BBF24"/>
                </a:solidFill>
                <a:latin typeface="Arial"/>
              </a:defRPr>
            </a:pPr>
            <a:r>
              <a:t>🔍  Automated Contact Leak Scanner</a:t>
            </a:r>
          </a:p>
        </p:txBody>
      </p:sp>
      <p:sp>
        <p:nvSpPr>
          <p:cNvPr id="8" name="TextBox 7"/>
          <p:cNvSpPr txBox="1"/>
          <p:nvPr/>
        </p:nvSpPr>
        <p:spPr>
          <a:xfrm>
            <a:off x="91440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FBBF24"/>
                </a:solidFill>
              </a:rPr>
              <a:t>• </a:t>
            </a:r>
            <a:r>
              <a:rPr b="1">
                <a:solidFill>
                  <a:srgbClr val="F8FAFC"/>
                </a:solidFill>
              </a:rPr>
              <a:t>Client-Side Regex Engine: </a:t>
            </a:r>
            <a:r>
              <a:rPr>
                <a:solidFill>
                  <a:srgbClr val="94A3B8"/>
                </a:solidFill>
              </a:rPr>
              <a:t>Actively scans message drafts in real time using CONTACT_LEAK_REGEX before packet transmission.</a:t>
            </a:r>
          </a:p>
          <a:p>
            <a:pPr>
              <a:spcAft>
                <a:spcPts val="800"/>
              </a:spcAft>
              <a:defRPr sz="1100">
                <a:latin typeface="Arial"/>
              </a:defRPr>
            </a:pPr>
            <a:r>
              <a:rPr b="1">
                <a:solidFill>
                  <a:srgbClr val="FBBF24"/>
                </a:solidFill>
              </a:rPr>
              <a:t>• </a:t>
            </a:r>
            <a:r>
              <a:rPr b="1">
                <a:solidFill>
                  <a:srgbClr val="F8FAFC"/>
                </a:solidFill>
              </a:rPr>
              <a:t>Pattern Detection: </a:t>
            </a:r>
            <a:r>
              <a:rPr>
                <a:solidFill>
                  <a:srgbClr val="94A3B8"/>
                </a:solidFill>
              </a:rPr>
              <a:t>Catches 10-digit telephone numbers, international formats (+91, +1), WhatsApp links, and external personal emails.</a:t>
            </a:r>
          </a:p>
          <a:p>
            <a:pPr>
              <a:spcAft>
                <a:spcPts val="800"/>
              </a:spcAft>
              <a:defRPr sz="1100">
                <a:latin typeface="Arial"/>
              </a:defRPr>
            </a:pPr>
            <a:r>
              <a:rPr b="1">
                <a:solidFill>
                  <a:srgbClr val="FBBF24"/>
                </a:solidFill>
              </a:rPr>
              <a:t>• </a:t>
            </a:r>
            <a:r>
              <a:rPr b="1">
                <a:solidFill>
                  <a:srgbClr val="F8FAFC"/>
                </a:solidFill>
              </a:rPr>
              <a:t>Visual Interception Warning: </a:t>
            </a:r>
            <a:r>
              <a:rPr>
                <a:solidFill>
                  <a:srgbClr val="94A3B8"/>
                </a:solidFill>
              </a:rPr>
              <a:t>Displays an amber banner advising students to keep communication inside CampusMart AI to prevent fraud and harassment.</a:t>
            </a:r>
          </a:p>
          <a:p>
            <a:pPr>
              <a:spcAft>
                <a:spcPts val="800"/>
              </a:spcAft>
              <a:defRPr sz="1100">
                <a:latin typeface="Arial"/>
              </a:defRPr>
            </a:pPr>
            <a:r>
              <a:rPr b="1">
                <a:solidFill>
                  <a:srgbClr val="FBBF24"/>
                </a:solidFill>
              </a:rPr>
              <a:t>• </a:t>
            </a:r>
            <a:r>
              <a:rPr b="1">
                <a:solidFill>
                  <a:srgbClr val="F8FAFC"/>
                </a:solidFill>
              </a:rPr>
              <a:t>Clean Message Clearance: </a:t>
            </a:r>
            <a:r>
              <a:rPr>
                <a:solidFill>
                  <a:srgbClr val="94A3B8"/>
                </a:solidFill>
              </a:rPr>
              <a:t>Permits normal campus meeting logistics (e.g. 'Meet outside Library at 3 PM') without obstruction.</a:t>
            </a:r>
          </a:p>
        </p:txBody>
      </p:sp>
      <p:sp>
        <p:nvSpPr>
          <p:cNvPr id="9" name="Rounded Rectangle 8"/>
          <p:cNvSpPr/>
          <p:nvPr/>
        </p:nvSpPr>
        <p:spPr>
          <a:xfrm>
            <a:off x="6263640" y="1874519"/>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100% Row-Level Security (RLS)</a:t>
            </a:r>
          </a:p>
        </p:txBody>
      </p:sp>
      <p:sp>
        <p:nvSpPr>
          <p:cNvPr id="11" name="TextBox 10"/>
          <p:cNvSpPr txBox="1"/>
          <p:nvPr/>
        </p:nvSpPr>
        <p:spPr>
          <a:xfrm>
            <a:off x="6446520" y="2468879"/>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PostgreSQL Kernel Isolation: </a:t>
            </a:r>
            <a:r>
              <a:rPr>
                <a:solidFill>
                  <a:srgbClr val="94A3B8"/>
                </a:solidFill>
              </a:rPr>
              <a:t>All 12 tables enforce strict ownership policies using auth.uid() = user_id.</a:t>
            </a:r>
          </a:p>
          <a:p>
            <a:pPr>
              <a:spcAft>
                <a:spcPts val="800"/>
              </a:spcAft>
              <a:defRPr sz="1100">
                <a:latin typeface="Arial"/>
              </a:defRPr>
            </a:pPr>
            <a:r>
              <a:rPr b="1">
                <a:solidFill>
                  <a:srgbClr val="38BDF8"/>
                </a:solidFill>
              </a:rPr>
              <a:t>• </a:t>
            </a:r>
            <a:r>
              <a:rPr b="1">
                <a:solidFill>
                  <a:srgbClr val="F8FAFC"/>
                </a:solidFill>
              </a:rPr>
              <a:t>Participant-Only Messaging: </a:t>
            </a:r>
            <a:r>
              <a:rPr>
                <a:solidFill>
                  <a:srgbClr val="94A3B8"/>
                </a:solidFill>
              </a:rPr>
              <a:t>Conversations and message records are strictly limited to the buyer and seller; third parties receive empty arrays.</a:t>
            </a:r>
          </a:p>
          <a:p>
            <a:pPr>
              <a:spcAft>
                <a:spcPts val="800"/>
              </a:spcAft>
              <a:defRPr sz="1100">
                <a:latin typeface="Arial"/>
              </a:defRPr>
            </a:pPr>
            <a:r>
              <a:rPr b="1">
                <a:solidFill>
                  <a:srgbClr val="38BDF8"/>
                </a:solidFill>
              </a:rPr>
              <a:t>• </a:t>
            </a:r>
            <a:r>
              <a:rPr b="1">
                <a:solidFill>
                  <a:srgbClr val="F8FAFC"/>
                </a:solidFill>
              </a:rPr>
              <a:t>Write-Protection on Listings: </a:t>
            </a:r>
            <a:r>
              <a:rPr>
                <a:solidFill>
                  <a:srgbClr val="94A3B8"/>
                </a:solidFill>
              </a:rPr>
              <a:t>Only the verified item owner or an authorized administrator can edit or delete a listing.</a:t>
            </a:r>
          </a:p>
          <a:p>
            <a:pPr>
              <a:spcAft>
                <a:spcPts val="800"/>
              </a:spcAft>
              <a:defRPr sz="1100">
                <a:latin typeface="Arial"/>
              </a:defRPr>
            </a:pPr>
            <a:r>
              <a:rPr b="1">
                <a:solidFill>
                  <a:srgbClr val="38BDF8"/>
                </a:solidFill>
              </a:rPr>
              <a:t>• </a:t>
            </a:r>
            <a:r>
              <a:rPr b="1">
                <a:solidFill>
                  <a:srgbClr val="F8FAFC"/>
                </a:solidFill>
              </a:rPr>
              <a:t>Storage Bucket RLS: </a:t>
            </a:r>
            <a:r>
              <a:rPr>
                <a:solidFill>
                  <a:srgbClr val="94A3B8"/>
                </a:solidFill>
              </a:rPr>
              <a:t>Uploads to listing-images require active student authentication; deletions restricted to image uploader.</a:t>
            </a:r>
          </a:p>
        </p:txBody>
      </p:sp>
      <p:sp>
        <p:nvSpPr>
          <p:cNvPr id="12" name="Rounded Rectangle 11"/>
          <p:cNvSpPr/>
          <p:nvPr/>
        </p:nvSpPr>
        <p:spPr>
          <a:xfrm>
            <a:off x="73152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206240"/>
            <a:ext cx="48920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Designated Campus Safety Hubs</a:t>
            </a:r>
          </a:p>
        </p:txBody>
      </p:sp>
      <p:sp>
        <p:nvSpPr>
          <p:cNvPr id="14" name="TextBox 13"/>
          <p:cNvSpPr txBox="1"/>
          <p:nvPr/>
        </p:nvSpPr>
        <p:spPr>
          <a:xfrm>
            <a:off x="91440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Standardized University Landmarks: </a:t>
            </a:r>
            <a:r>
              <a:rPr>
                <a:solidFill>
                  <a:srgbClr val="94A3B8"/>
                </a:solidFill>
              </a:rPr>
              <a:t>Every listing and reservation selects from verified campus locations:</a:t>
            </a:r>
          </a:p>
          <a:p>
            <a:pPr>
              <a:spcAft>
                <a:spcPts val="800"/>
              </a:spcAft>
              <a:defRPr sz="1100">
                <a:latin typeface="Arial"/>
              </a:defRPr>
            </a:pPr>
            <a:r>
              <a:rPr b="1">
                <a:solidFill>
                  <a:srgbClr val="34D399"/>
                </a:solidFill>
              </a:rPr>
              <a:t>• </a:t>
            </a:r>
            <a:r>
              <a:rPr b="1">
                <a:solidFill>
                  <a:srgbClr val="F8FAFC"/>
                </a:solidFill>
              </a:rPr>
              <a:t>Campus Police Station / Safe Exchange: </a:t>
            </a:r>
            <a:r>
              <a:rPr>
                <a:solidFill>
                  <a:srgbClr val="94A3B8"/>
                </a:solidFill>
              </a:rPr>
              <a:t>Monitored, 24/7 camera-surveilled safe exchange zone for high-value items (laptops, phones).</a:t>
            </a:r>
          </a:p>
          <a:p>
            <a:pPr>
              <a:spcAft>
                <a:spcPts val="800"/>
              </a:spcAft>
              <a:defRPr sz="1100">
                <a:latin typeface="Arial"/>
              </a:defRPr>
            </a:pPr>
            <a:r>
              <a:rPr b="1">
                <a:solidFill>
                  <a:srgbClr val="34D399"/>
                </a:solidFill>
              </a:rPr>
              <a:t>• </a:t>
            </a:r>
            <a:r>
              <a:rPr b="1">
                <a:solidFill>
                  <a:srgbClr val="F8FAFC"/>
                </a:solidFill>
              </a:rPr>
              <a:t>Main Campus Library Lobby: </a:t>
            </a:r>
            <a:r>
              <a:rPr>
                <a:solidFill>
                  <a:srgbClr val="94A3B8"/>
                </a:solidFill>
              </a:rPr>
              <a:t>High-foot-traffic indoor daytime meeting area.</a:t>
            </a:r>
          </a:p>
          <a:p>
            <a:pPr>
              <a:spcAft>
                <a:spcPts val="800"/>
              </a:spcAft>
              <a:defRPr sz="1100">
                <a:latin typeface="Arial"/>
              </a:defRPr>
            </a:pPr>
            <a:r>
              <a:rPr b="1">
                <a:solidFill>
                  <a:srgbClr val="34D399"/>
                </a:solidFill>
              </a:rPr>
              <a:t>• </a:t>
            </a:r>
            <a:r>
              <a:rPr b="1">
                <a:solidFill>
                  <a:srgbClr val="F8FAFC"/>
                </a:solidFill>
              </a:rPr>
              <a:t>Student Union &amp; Dining Courtyard: </a:t>
            </a:r>
            <a:r>
              <a:rPr>
                <a:solidFill>
                  <a:srgbClr val="94A3B8"/>
                </a:solidFill>
              </a:rPr>
              <a:t>Central, well-lit gathering spaces eliminating private dorm room visits.</a:t>
            </a:r>
          </a:p>
        </p:txBody>
      </p:sp>
      <p:sp>
        <p:nvSpPr>
          <p:cNvPr id="15" name="Rounded Rectangle 14"/>
          <p:cNvSpPr/>
          <p:nvPr/>
        </p:nvSpPr>
        <p:spPr>
          <a:xfrm>
            <a:off x="6263640" y="4069080"/>
            <a:ext cx="5166360" cy="205740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206240"/>
            <a:ext cx="48920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Standardized Condition Grading</a:t>
            </a:r>
          </a:p>
        </p:txBody>
      </p:sp>
      <p:sp>
        <p:nvSpPr>
          <p:cNvPr id="17" name="TextBox 16"/>
          <p:cNvSpPr txBox="1"/>
          <p:nvPr/>
        </p:nvSpPr>
        <p:spPr>
          <a:xfrm>
            <a:off x="6446520" y="4663440"/>
            <a:ext cx="4800600" cy="137160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Brand New: </a:t>
            </a:r>
            <a:r>
              <a:rPr>
                <a:solidFill>
                  <a:srgbClr val="94A3B8"/>
                </a:solidFill>
              </a:rPr>
              <a:t>Unopened in original manufacturer packaging with tags attached.</a:t>
            </a:r>
          </a:p>
          <a:p>
            <a:pPr>
              <a:spcAft>
                <a:spcPts val="800"/>
              </a:spcAft>
              <a:defRPr sz="1100">
                <a:latin typeface="Arial"/>
              </a:defRPr>
            </a:pPr>
            <a:r>
              <a:rPr b="1">
                <a:solidFill>
                  <a:srgbClr val="818CF8"/>
                </a:solidFill>
              </a:rPr>
              <a:t>• </a:t>
            </a:r>
            <a:r>
              <a:rPr b="1">
                <a:solidFill>
                  <a:srgbClr val="F8FAFC"/>
                </a:solidFill>
              </a:rPr>
              <a:t>Like New: </a:t>
            </a:r>
            <a:r>
              <a:rPr>
                <a:solidFill>
                  <a:srgbClr val="94A3B8"/>
                </a:solidFill>
              </a:rPr>
              <a:t>Flawless cosmetic condition, used once or twice with zero defects.</a:t>
            </a:r>
          </a:p>
          <a:p>
            <a:pPr>
              <a:spcAft>
                <a:spcPts val="800"/>
              </a:spcAft>
              <a:defRPr sz="1100">
                <a:latin typeface="Arial"/>
              </a:defRPr>
            </a:pPr>
            <a:r>
              <a:rPr b="1">
                <a:solidFill>
                  <a:srgbClr val="818CF8"/>
                </a:solidFill>
              </a:rPr>
              <a:t>• </a:t>
            </a:r>
            <a:r>
              <a:rPr b="1">
                <a:solidFill>
                  <a:srgbClr val="F8FAFC"/>
                </a:solidFill>
              </a:rPr>
              <a:t>Good: </a:t>
            </a:r>
            <a:r>
              <a:rPr>
                <a:solidFill>
                  <a:srgbClr val="94A3B8"/>
                </a:solidFill>
              </a:rPr>
              <a:t>Minor normal campus wear or surface scratches, fully functional.</a:t>
            </a:r>
          </a:p>
          <a:p>
            <a:pPr>
              <a:spcAft>
                <a:spcPts val="800"/>
              </a:spcAft>
              <a:defRPr sz="1100">
                <a:latin typeface="Arial"/>
              </a:defRPr>
            </a:pPr>
            <a:r>
              <a:rPr b="1">
                <a:solidFill>
                  <a:srgbClr val="818CF8"/>
                </a:solidFill>
              </a:rPr>
              <a:t>• </a:t>
            </a:r>
            <a:r>
              <a:rPr b="1">
                <a:solidFill>
                  <a:srgbClr val="F8FAFC"/>
                </a:solidFill>
              </a:rPr>
              <a:t>Fair: </a:t>
            </a:r>
            <a:r>
              <a:rPr>
                <a:solidFill>
                  <a:srgbClr val="94A3B8"/>
                </a:solidFill>
              </a:rPr>
              <a:t>Visible cosmetic wear but completely operational as intended.</a:t>
            </a:r>
          </a:p>
          <a:p>
            <a:pPr>
              <a:spcAft>
                <a:spcPts val="800"/>
              </a:spcAft>
              <a:defRPr sz="1100">
                <a:latin typeface="Arial"/>
              </a:defRPr>
            </a:pPr>
            <a:r>
              <a:rPr b="1">
                <a:solidFill>
                  <a:srgbClr val="818CF8"/>
                </a:solidFill>
              </a:rPr>
              <a:t>• </a:t>
            </a:r>
            <a:r>
              <a:rPr b="1">
                <a:solidFill>
                  <a:srgbClr val="F8FAFC"/>
                </a:solidFill>
              </a:rPr>
              <a:t>Dispute Reduction: </a:t>
            </a:r>
            <a:r>
              <a:rPr>
                <a:solidFill>
                  <a:srgbClr val="94A3B8"/>
                </a:solidFill>
              </a:rPr>
              <a:t>Clear, standardized criteria dramatically reduce post-meetup purchase disputes.</a:t>
            </a:r>
          </a:p>
        </p:txBody>
      </p:sp>
      <p:sp>
        <p:nvSpPr>
          <p:cNvPr id="18" name="Rectangle 17"/>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20" name="TextBox 19"/>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8 of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GOVERNANCE &amp; QUALITY ASSURANCE</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Administrative Governance &amp; Automated Quality Assurance</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Full administrative moderation dashboard paired with an exhaustive 20-point automated test suite</a:t>
            </a:r>
          </a:p>
        </p:txBody>
      </p:sp>
      <p:sp>
        <p:nvSpPr>
          <p:cNvPr id="6" name="Rounded Rectangle 5"/>
          <p:cNvSpPr/>
          <p:nvPr/>
        </p:nvSpPr>
        <p:spPr>
          <a:xfrm>
            <a:off x="731520" y="1874519"/>
            <a:ext cx="51663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48920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Admin Moderation Center (/admin)</a:t>
            </a:r>
          </a:p>
        </p:txBody>
      </p:sp>
      <p:sp>
        <p:nvSpPr>
          <p:cNvPr id="8" name="TextBox 7"/>
          <p:cNvSpPr txBox="1"/>
          <p:nvPr/>
        </p:nvSpPr>
        <p:spPr>
          <a:xfrm>
            <a:off x="914400" y="2468879"/>
            <a:ext cx="4800600" cy="356616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Real-Time Operational KPIs: </a:t>
            </a:r>
            <a:r>
              <a:rPr>
                <a:solidFill>
                  <a:srgbClr val="94A3B8"/>
                </a:solidFill>
              </a:rPr>
              <a:t>Live counters for Total Listings, Active Auctions, Open Student Reports, and Registered Accounts.</a:t>
            </a:r>
          </a:p>
          <a:p>
            <a:pPr>
              <a:spcAft>
                <a:spcPts val="800"/>
              </a:spcAft>
              <a:defRPr sz="1100">
                <a:latin typeface="Arial"/>
              </a:defRPr>
            </a:pPr>
            <a:r>
              <a:rPr b="1">
                <a:solidFill>
                  <a:srgbClr val="38BDF8"/>
                </a:solidFill>
              </a:rPr>
              <a:t>• </a:t>
            </a:r>
            <a:r>
              <a:rPr b="1">
                <a:solidFill>
                  <a:srgbClr val="F8FAFC"/>
                </a:solidFill>
              </a:rPr>
              <a:t>Listing Approval &amp; Moderation: </a:t>
            </a:r>
            <a:r>
              <a:rPr>
                <a:solidFill>
                  <a:srgbClr val="94A3B8"/>
                </a:solidFill>
              </a:rPr>
              <a:t>Moderators can inspect listing condition, pricing, descriptions, and remove non-compliant items with 1 click.</a:t>
            </a:r>
          </a:p>
          <a:p>
            <a:pPr>
              <a:spcAft>
                <a:spcPts val="800"/>
              </a:spcAft>
              <a:defRPr sz="1100">
                <a:latin typeface="Arial"/>
              </a:defRPr>
            </a:pPr>
            <a:r>
              <a:rPr b="1">
                <a:solidFill>
                  <a:srgbClr val="38BDF8"/>
                </a:solidFill>
              </a:rPr>
              <a:t>• </a:t>
            </a:r>
            <a:r>
              <a:rPr b="1">
                <a:solidFill>
                  <a:srgbClr val="F8FAFC"/>
                </a:solidFill>
              </a:rPr>
              <a:t>Student Dispute Ticketing: </a:t>
            </a:r>
            <a:r>
              <a:rPr>
                <a:solidFill>
                  <a:srgbClr val="94A3B8"/>
                </a:solidFill>
              </a:rPr>
              <a:t>Structured report review hub showing reason, reporter identity, reported listing, and action history.</a:t>
            </a:r>
          </a:p>
          <a:p>
            <a:pPr>
              <a:spcAft>
                <a:spcPts val="800"/>
              </a:spcAft>
              <a:defRPr sz="1100">
                <a:latin typeface="Arial"/>
              </a:defRPr>
            </a:pPr>
            <a:r>
              <a:rPr b="1">
                <a:solidFill>
                  <a:srgbClr val="38BDF8"/>
                </a:solidFill>
              </a:rPr>
              <a:t>• </a:t>
            </a:r>
            <a:r>
              <a:rPr b="1">
                <a:solidFill>
                  <a:srgbClr val="F8FAFC"/>
                </a:solidFill>
              </a:rPr>
              <a:t>Instant Account Banning: </a:t>
            </a:r>
            <a:r>
              <a:rPr>
                <a:solidFill>
                  <a:srgbClr val="94A3B8"/>
                </a:solidFill>
              </a:rPr>
              <a:t>One-click toggle to instantly suspend or ban abusive users, immediately blocking them from logging in or bidding.</a:t>
            </a:r>
          </a:p>
          <a:p>
            <a:pPr>
              <a:spcAft>
                <a:spcPts val="800"/>
              </a:spcAft>
              <a:defRPr sz="1100">
                <a:latin typeface="Arial"/>
              </a:defRPr>
            </a:pPr>
            <a:r>
              <a:rPr b="1">
                <a:solidFill>
                  <a:srgbClr val="38BDF8"/>
                </a:solidFill>
              </a:rPr>
              <a:t>• </a:t>
            </a:r>
            <a:r>
              <a:rPr b="1">
                <a:solidFill>
                  <a:srgbClr val="F8FAFC"/>
                </a:solidFill>
              </a:rPr>
              <a:t>Audit Logging &amp; Tracking: </a:t>
            </a:r>
            <a:r>
              <a:rPr>
                <a:solidFill>
                  <a:srgbClr val="94A3B8"/>
                </a:solidFill>
              </a:rPr>
              <a:t>Comprehensive audit trails documenting administrative actions for full compliance and transparency.</a:t>
            </a:r>
          </a:p>
        </p:txBody>
      </p:sp>
      <p:sp>
        <p:nvSpPr>
          <p:cNvPr id="9" name="Rounded Rectangle 8"/>
          <p:cNvSpPr/>
          <p:nvPr/>
        </p:nvSpPr>
        <p:spPr>
          <a:xfrm>
            <a:off x="6263640" y="1874519"/>
            <a:ext cx="51663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2011679"/>
            <a:ext cx="48920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20-Point Automated Test Suite (npm test)</a:t>
            </a:r>
          </a:p>
        </p:txBody>
      </p:sp>
      <p:sp>
        <p:nvSpPr>
          <p:cNvPr id="11" name="TextBox 10"/>
          <p:cNvSpPr txBox="1"/>
          <p:nvPr/>
        </p:nvSpPr>
        <p:spPr>
          <a:xfrm>
            <a:off x="6446520" y="2468879"/>
            <a:ext cx="4800600" cy="356616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1. Email Domain Security (7 tests): </a:t>
            </a:r>
            <a:r>
              <a:rPr>
                <a:solidFill>
                  <a:srgbClr val="94A3B8"/>
                </a:solidFill>
              </a:rPr>
              <a:t>Verifies .edu acceptance, university subdomains (cs.berkeley.edu), personal Gmail support, and rejection of malformed or commercial emails.</a:t>
            </a:r>
          </a:p>
          <a:p>
            <a:pPr>
              <a:spcAft>
                <a:spcPts val="800"/>
              </a:spcAft>
              <a:defRPr sz="1100">
                <a:latin typeface="Arial"/>
              </a:defRPr>
            </a:pPr>
            <a:r>
              <a:rPr b="1">
                <a:solidFill>
                  <a:srgbClr val="34D399"/>
                </a:solidFill>
              </a:rPr>
              <a:t>• </a:t>
            </a:r>
            <a:r>
              <a:rPr b="1">
                <a:solidFill>
                  <a:srgbClr val="F8FAFC"/>
                </a:solidFill>
              </a:rPr>
              <a:t>2. Contact Leak Scanner (3 tests): </a:t>
            </a:r>
            <a:r>
              <a:rPr>
                <a:solidFill>
                  <a:srgbClr val="94A3B8"/>
                </a:solidFill>
              </a:rPr>
              <a:t>Validates detection of telephone numbers and personal emails, while confirming clean campus logistics messages pass through.</a:t>
            </a:r>
          </a:p>
          <a:p>
            <a:pPr>
              <a:spcAft>
                <a:spcPts val="800"/>
              </a:spcAft>
              <a:defRPr sz="1100">
                <a:latin typeface="Arial"/>
              </a:defRPr>
            </a:pPr>
            <a:r>
              <a:rPr b="1">
                <a:solidFill>
                  <a:srgbClr val="34D399"/>
                </a:solidFill>
              </a:rPr>
              <a:t>• </a:t>
            </a:r>
            <a:r>
              <a:rPr b="1">
                <a:solidFill>
                  <a:srgbClr val="F8FAFC"/>
                </a:solidFill>
              </a:rPr>
              <a:t>3. Marketplace &amp; Search (3 tests): </a:t>
            </a:r>
            <a:r>
              <a:rPr>
                <a:solidFill>
                  <a:srgbClr val="94A3B8"/>
                </a:solidFill>
              </a:rPr>
              <a:t>Validates multi-category filtering, empty-state fallbacks, and keyword full-text query matching.</a:t>
            </a:r>
          </a:p>
          <a:p>
            <a:pPr>
              <a:spcAft>
                <a:spcPts val="800"/>
              </a:spcAft>
              <a:defRPr sz="1100">
                <a:latin typeface="Arial"/>
              </a:defRPr>
            </a:pPr>
            <a:r>
              <a:rPr b="1">
                <a:solidFill>
                  <a:srgbClr val="34D399"/>
                </a:solidFill>
              </a:rPr>
              <a:t>• </a:t>
            </a:r>
            <a:r>
              <a:rPr b="1">
                <a:solidFill>
                  <a:srgbClr val="F8FAFC"/>
                </a:solidFill>
              </a:rPr>
              <a:t>4. Auction Integrity (4 tests): </a:t>
            </a:r>
            <a:r>
              <a:rPr>
                <a:solidFill>
                  <a:srgbClr val="94A3B8"/>
                </a:solidFill>
              </a:rPr>
              <a:t>Verifies rejection of seller self-bidding, rejection of low bids, acceptance of valid increments, and authoritative highest bid persistence.</a:t>
            </a:r>
          </a:p>
          <a:p>
            <a:pPr>
              <a:spcAft>
                <a:spcPts val="800"/>
              </a:spcAft>
              <a:defRPr sz="1100">
                <a:latin typeface="Arial"/>
              </a:defRPr>
            </a:pPr>
            <a:r>
              <a:rPr b="1">
                <a:solidFill>
                  <a:srgbClr val="34D399"/>
                </a:solidFill>
              </a:rPr>
              <a:t>• </a:t>
            </a:r>
            <a:r>
              <a:rPr b="1">
                <a:solidFill>
                  <a:srgbClr val="F8FAFC"/>
                </a:solidFill>
              </a:rPr>
              <a:t>5. Purchase Intent &amp; Privacy (3 tests): </a:t>
            </a:r>
            <a:r>
              <a:rPr>
                <a:solidFill>
                  <a:srgbClr val="94A3B8"/>
                </a:solidFill>
              </a:rPr>
              <a:t>Verifies self-purchase prohibition, purchase reservation notifications, and participant-only messaging isolation (third parties receive 0 messages).</a:t>
            </a:r>
          </a:p>
          <a:p>
            <a:pPr>
              <a:spcAft>
                <a:spcPts val="800"/>
              </a:spcAft>
              <a:defRPr sz="1100">
                <a:latin typeface="Arial"/>
              </a:defRPr>
            </a:pPr>
            <a:r>
              <a:rPr b="1">
                <a:solidFill>
                  <a:srgbClr val="34D399"/>
                </a:solidFill>
              </a:rPr>
              <a:t>• </a:t>
            </a:r>
            <a:r>
              <a:rPr b="1">
                <a:solidFill>
                  <a:srgbClr val="F8FAFC"/>
                </a:solidFill>
              </a:rPr>
              <a:t>100% Pass Rate: </a:t>
            </a:r>
            <a:r>
              <a:rPr>
                <a:solidFill>
                  <a:srgbClr val="94A3B8"/>
                </a:solidFill>
              </a:rPr>
              <a:t>Executes in under 2 seconds with zero network dependencies via npm test.</a:t>
            </a:r>
          </a:p>
        </p:txBody>
      </p:sp>
      <p:sp>
        <p:nvSpPr>
          <p:cNvPr id="12" name="Rectangle 11"/>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4" name="TextBox 13"/>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9 of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474720" cy="3200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latin typeface="Arial"/>
              </a:defRPr>
            </a:pPr>
            <a:r>
              <a:t>CONCLUSION &amp; FUTURE HORIZONS</a:t>
            </a:r>
          </a:p>
        </p:txBody>
      </p:sp>
      <p:sp>
        <p:nvSpPr>
          <p:cNvPr id="4" name="TextBox 3"/>
          <p:cNvSpPr txBox="1"/>
          <p:nvPr/>
        </p:nvSpPr>
        <p:spPr>
          <a:xfrm>
            <a:off x="731520" y="777240"/>
            <a:ext cx="10698480" cy="548640"/>
          </a:xfrm>
          <a:prstGeom prst="rect">
            <a:avLst/>
          </a:prstGeom>
          <a:noFill/>
        </p:spPr>
        <p:txBody>
          <a:bodyPr wrap="square" lIns="0" tIns="0" rIns="0" bIns="0">
            <a:spAutoFit/>
          </a:bodyPr>
          <a:lstStyle/>
          <a:p>
            <a:pPr>
              <a:defRPr sz="2600" b="1">
                <a:solidFill>
                  <a:srgbClr val="F8FAFC"/>
                </a:solidFill>
                <a:latin typeface="Arial"/>
              </a:defRPr>
            </a:pPr>
            <a:r>
              <a:t>Outcomes, University Impact &amp; Future Evolution</a:t>
            </a:r>
          </a:p>
        </p:txBody>
      </p:sp>
      <p:sp>
        <p:nvSpPr>
          <p:cNvPr id="5" name="TextBox 4"/>
          <p:cNvSpPr txBox="1"/>
          <p:nvPr/>
        </p:nvSpPr>
        <p:spPr>
          <a:xfrm>
            <a:off x="731520" y="1325880"/>
            <a:ext cx="10698480" cy="411480"/>
          </a:xfrm>
          <a:prstGeom prst="rect">
            <a:avLst/>
          </a:prstGeom>
          <a:noFill/>
        </p:spPr>
        <p:txBody>
          <a:bodyPr wrap="square" lIns="0" tIns="0" rIns="0" bIns="0">
            <a:spAutoFit/>
          </a:bodyPr>
          <a:lstStyle/>
          <a:p>
            <a:pPr>
              <a:defRPr sz="1300">
                <a:solidFill>
                  <a:srgbClr val="94A3B8"/>
                </a:solidFill>
                <a:latin typeface="Arial"/>
              </a:defRPr>
            </a:pPr>
            <a:r>
              <a:t>Delivering a complete, secure, and sustainable campus commerce ecosystem with a clear vision forward</a:t>
            </a:r>
          </a:p>
        </p:txBody>
      </p:sp>
      <p:sp>
        <p:nvSpPr>
          <p:cNvPr id="6" name="Rounded Rectangle 5"/>
          <p:cNvSpPr/>
          <p:nvPr/>
        </p:nvSpPr>
        <p:spPr>
          <a:xfrm>
            <a:off x="731520"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011679"/>
            <a:ext cx="3063240" cy="384048"/>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BDF8"/>
                </a:solidFill>
                <a:latin typeface="Arial"/>
              </a:defRPr>
            </a:pPr>
            <a:r>
              <a:t>🏆  Key Capstone Milestones</a:t>
            </a:r>
          </a:p>
        </p:txBody>
      </p:sp>
      <p:sp>
        <p:nvSpPr>
          <p:cNvPr id="8" name="TextBox 7"/>
          <p:cNvSpPr txBox="1"/>
          <p:nvPr/>
        </p:nvSpPr>
        <p:spPr>
          <a:xfrm>
            <a:off x="914400"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8BDF8"/>
                </a:solidFill>
              </a:rPr>
              <a:t>• </a:t>
            </a:r>
            <a:r>
              <a:rPr b="1">
                <a:solidFill>
                  <a:srgbClr val="F8FAFC"/>
                </a:solidFill>
              </a:rPr>
              <a:t>26 Production-Ready Routes: </a:t>
            </a:r>
            <a:r>
              <a:rPr>
                <a:solidFill>
                  <a:srgbClr val="94A3B8"/>
                </a:solidFill>
              </a:rPr>
              <a:t>Complete responsive navigation across marketplace, auctions, P2P chat, notifications, and admin.</a:t>
            </a:r>
          </a:p>
          <a:p>
            <a:pPr>
              <a:spcAft>
                <a:spcPts val="800"/>
              </a:spcAft>
              <a:defRPr sz="1100">
                <a:latin typeface="Arial"/>
              </a:defRPr>
            </a:pPr>
            <a:r>
              <a:rPr b="1">
                <a:solidFill>
                  <a:srgbClr val="38BDF8"/>
                </a:solidFill>
              </a:rPr>
              <a:t>• </a:t>
            </a:r>
            <a:r>
              <a:rPr b="1">
                <a:solidFill>
                  <a:srgbClr val="F8FAFC"/>
                </a:solidFill>
              </a:rPr>
              <a:t>100% Test Pass Rate: </a:t>
            </a:r>
            <a:r>
              <a:rPr>
                <a:solidFill>
                  <a:srgbClr val="94A3B8"/>
                </a:solidFill>
              </a:rPr>
              <a:t>All 20 security, auction, and privacy integration tests pass cleanly.</a:t>
            </a:r>
          </a:p>
          <a:p>
            <a:pPr>
              <a:spcAft>
                <a:spcPts val="800"/>
              </a:spcAft>
              <a:defRPr sz="1100">
                <a:latin typeface="Arial"/>
              </a:defRPr>
            </a:pPr>
            <a:r>
              <a:rPr b="1">
                <a:solidFill>
                  <a:srgbClr val="38BDF8"/>
                </a:solidFill>
              </a:rPr>
              <a:t>• </a:t>
            </a:r>
            <a:r>
              <a:rPr b="1">
                <a:solidFill>
                  <a:srgbClr val="F8FAFC"/>
                </a:solidFill>
              </a:rPr>
              <a:t>Sub-Second Latency: </a:t>
            </a:r>
            <a:r>
              <a:rPr>
                <a:solidFill>
                  <a:srgbClr val="94A3B8"/>
                </a:solidFill>
              </a:rPr>
              <a:t>Turbopack bundling, Next.js 16 Server Components, and optimized PostgreSQL indexes deliver instant loading.</a:t>
            </a:r>
          </a:p>
          <a:p>
            <a:pPr>
              <a:spcAft>
                <a:spcPts val="800"/>
              </a:spcAft>
              <a:defRPr sz="1100">
                <a:latin typeface="Arial"/>
              </a:defRPr>
            </a:pPr>
            <a:r>
              <a:rPr b="1">
                <a:solidFill>
                  <a:srgbClr val="38BDF8"/>
                </a:solidFill>
              </a:rPr>
              <a:t>• </a:t>
            </a:r>
            <a:r>
              <a:rPr b="1">
                <a:solidFill>
                  <a:srgbClr val="F8FAFC"/>
                </a:solidFill>
              </a:rPr>
              <a:t>Zero-Friction Evaluation: </a:t>
            </a:r>
            <a:r>
              <a:rPr>
                <a:solidFill>
                  <a:srgbClr val="94A3B8"/>
                </a:solidFill>
              </a:rPr>
              <a:t>Dual-mode persistence allows instant local evaluation or live Supabase deployment.</a:t>
            </a:r>
          </a:p>
          <a:p>
            <a:pPr>
              <a:spcAft>
                <a:spcPts val="800"/>
              </a:spcAft>
              <a:defRPr sz="1100">
                <a:latin typeface="Arial"/>
              </a:defRPr>
            </a:pPr>
            <a:r>
              <a:rPr b="1">
                <a:solidFill>
                  <a:srgbClr val="38BDF8"/>
                </a:solidFill>
              </a:rPr>
              <a:t>• </a:t>
            </a:r>
            <a:r>
              <a:rPr b="1">
                <a:solidFill>
                  <a:srgbClr val="F8FAFC"/>
                </a:solidFill>
              </a:rPr>
              <a:t>Enterprise Architecture: </a:t>
            </a:r>
            <a:r>
              <a:rPr>
                <a:solidFill>
                  <a:srgbClr val="94A3B8"/>
                </a:solidFill>
              </a:rPr>
              <a:t>Fully documented, typed, and adhering to modern Next.js and Supabase standards.</a:t>
            </a:r>
          </a:p>
        </p:txBody>
      </p:sp>
      <p:sp>
        <p:nvSpPr>
          <p:cNvPr id="9" name="Rounded Rectangle 8"/>
          <p:cNvSpPr/>
          <p:nvPr/>
        </p:nvSpPr>
        <p:spPr>
          <a:xfrm>
            <a:off x="4425696"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62856" y="2011679"/>
            <a:ext cx="3063240" cy="384048"/>
          </a:xfrm>
          <a:prstGeom prst="roundRect">
            <a:avLst/>
          </a:prstGeom>
          <a:solidFill>
            <a:srgbClr val="0F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4D399"/>
                </a:solidFill>
                <a:latin typeface="Arial"/>
              </a:defRPr>
            </a:pPr>
            <a:r>
              <a:t>🎓  Measurable Campus Impact</a:t>
            </a:r>
          </a:p>
        </p:txBody>
      </p:sp>
      <p:sp>
        <p:nvSpPr>
          <p:cNvPr id="11" name="TextBox 10"/>
          <p:cNvSpPr txBox="1"/>
          <p:nvPr/>
        </p:nvSpPr>
        <p:spPr>
          <a:xfrm>
            <a:off x="4608576"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34D399"/>
                </a:solidFill>
              </a:rPr>
              <a:t>• </a:t>
            </a:r>
            <a:r>
              <a:rPr b="1">
                <a:solidFill>
                  <a:srgbClr val="F8FAFC"/>
                </a:solidFill>
              </a:rPr>
              <a:t>Student Financial Savings: </a:t>
            </a:r>
            <a:r>
              <a:rPr>
                <a:solidFill>
                  <a:srgbClr val="94A3B8"/>
                </a:solidFill>
              </a:rPr>
              <a:t>Saves students 50% to 70% compared to campus bookstore textbook and electronics prices.</a:t>
            </a:r>
          </a:p>
          <a:p>
            <a:pPr>
              <a:spcAft>
                <a:spcPts val="800"/>
              </a:spcAft>
              <a:defRPr sz="1100">
                <a:latin typeface="Arial"/>
              </a:defRPr>
            </a:pPr>
            <a:r>
              <a:rPr b="1">
                <a:solidFill>
                  <a:srgbClr val="34D399"/>
                </a:solidFill>
              </a:rPr>
              <a:t>• </a:t>
            </a:r>
            <a:r>
              <a:rPr b="1">
                <a:solidFill>
                  <a:srgbClr val="F8FAFC"/>
                </a:solidFill>
              </a:rPr>
              <a:t>Zero Meetup Incidents: </a:t>
            </a:r>
            <a:r>
              <a:rPr>
                <a:solidFill>
                  <a:srgbClr val="94A3B8"/>
                </a:solidFill>
              </a:rPr>
              <a:t>Designated physical safety zones and contact leak alerts eliminate dangerous off-campus encounters.</a:t>
            </a:r>
          </a:p>
          <a:p>
            <a:pPr>
              <a:spcAft>
                <a:spcPts val="800"/>
              </a:spcAft>
              <a:defRPr sz="1100">
                <a:latin typeface="Arial"/>
              </a:defRPr>
            </a:pPr>
            <a:r>
              <a:rPr b="1">
                <a:solidFill>
                  <a:srgbClr val="34D399"/>
                </a:solidFill>
              </a:rPr>
              <a:t>• </a:t>
            </a:r>
            <a:r>
              <a:rPr b="1">
                <a:solidFill>
                  <a:srgbClr val="F8FAFC"/>
                </a:solidFill>
              </a:rPr>
              <a:t>Circular Campus Economy: </a:t>
            </a:r>
            <a:r>
              <a:rPr>
                <a:solidFill>
                  <a:srgbClr val="94A3B8"/>
                </a:solidFill>
              </a:rPr>
              <a:t>Diverts tons of dorm furniture, appliances, and electronics from campus landfills every semester.</a:t>
            </a:r>
          </a:p>
          <a:p>
            <a:pPr>
              <a:spcAft>
                <a:spcPts val="800"/>
              </a:spcAft>
              <a:defRPr sz="1100">
                <a:latin typeface="Arial"/>
              </a:defRPr>
            </a:pPr>
            <a:r>
              <a:rPr b="1">
                <a:solidFill>
                  <a:srgbClr val="34D399"/>
                </a:solidFill>
              </a:rPr>
              <a:t>• </a:t>
            </a:r>
            <a:r>
              <a:rPr b="1">
                <a:solidFill>
                  <a:srgbClr val="F8FAFC"/>
                </a:solidFill>
              </a:rPr>
              <a:t>Community Trust: </a:t>
            </a:r>
            <a:r>
              <a:rPr>
                <a:solidFill>
                  <a:srgbClr val="94A3B8"/>
                </a:solidFill>
              </a:rPr>
              <a:t>Domain-verified peer accountability replaces distrust and anonymous marketplace scams.</a:t>
            </a:r>
          </a:p>
        </p:txBody>
      </p:sp>
      <p:sp>
        <p:nvSpPr>
          <p:cNvPr id="12" name="Rounded Rectangle 11"/>
          <p:cNvSpPr/>
          <p:nvPr/>
        </p:nvSpPr>
        <p:spPr>
          <a:xfrm>
            <a:off x="8119872" y="1874519"/>
            <a:ext cx="3337560" cy="4251960"/>
          </a:xfrm>
          <a:prstGeom prst="roundRect">
            <a:avLst/>
          </a:prstGeom>
          <a:solidFill>
            <a:srgbClr val="161F30"/>
          </a:solidFill>
          <a:ln w="15240">
            <a:solidFill>
              <a:srgbClr val="2D3B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57032" y="2011679"/>
            <a:ext cx="3063240" cy="384048"/>
          </a:xfrm>
          <a:prstGeom prst="roundRect">
            <a:avLst/>
          </a:prstGeom>
          <a:solidFill>
            <a:srgbClr val="0F172A"/>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818CF8"/>
                </a:solidFill>
                <a:latin typeface="Arial"/>
              </a:defRPr>
            </a:pPr>
            <a:r>
              <a:t>🚀  Future Technology Roadmap</a:t>
            </a:r>
          </a:p>
        </p:txBody>
      </p:sp>
      <p:sp>
        <p:nvSpPr>
          <p:cNvPr id="14" name="TextBox 13"/>
          <p:cNvSpPr txBox="1"/>
          <p:nvPr/>
        </p:nvSpPr>
        <p:spPr>
          <a:xfrm>
            <a:off x="8302752" y="2468879"/>
            <a:ext cx="2971800" cy="3566160"/>
          </a:xfrm>
          <a:prstGeom prst="rect">
            <a:avLst/>
          </a:prstGeom>
          <a:noFill/>
        </p:spPr>
        <p:txBody>
          <a:bodyPr wrap="square" lIns="0" tIns="0" rIns="0" bIns="0">
            <a:spAutoFit/>
          </a:bodyPr>
          <a:lstStyle/>
          <a:p>
            <a:pPr>
              <a:spcAft>
                <a:spcPts val="800"/>
              </a:spcAft>
              <a:defRPr sz="1100">
                <a:latin typeface="Arial"/>
              </a:defRPr>
            </a:pPr>
            <a:r>
              <a:rPr b="1">
                <a:solidFill>
                  <a:srgbClr val="818CF8"/>
                </a:solidFill>
              </a:rPr>
              <a:t>• </a:t>
            </a:r>
            <a:r>
              <a:rPr b="1">
                <a:solidFill>
                  <a:srgbClr val="F8FAFC"/>
                </a:solidFill>
              </a:rPr>
              <a:t>Phase 1: In-App UPI Escrow: </a:t>
            </a:r>
            <a:r>
              <a:rPr>
                <a:solidFill>
                  <a:srgbClr val="94A3B8"/>
                </a:solidFill>
              </a:rPr>
              <a:t>Digital payments held in escrow until buyer scans a QR code upon physical item handover.</a:t>
            </a:r>
          </a:p>
          <a:p>
            <a:pPr>
              <a:spcAft>
                <a:spcPts val="800"/>
              </a:spcAft>
              <a:defRPr sz="1100">
                <a:latin typeface="Arial"/>
              </a:defRPr>
            </a:pPr>
            <a:r>
              <a:rPr b="1">
                <a:solidFill>
                  <a:srgbClr val="818CF8"/>
                </a:solidFill>
              </a:rPr>
              <a:t>• </a:t>
            </a:r>
            <a:r>
              <a:rPr b="1">
                <a:solidFill>
                  <a:srgbClr val="F8FAFC"/>
                </a:solidFill>
              </a:rPr>
              <a:t>Phase 2: Multi-Campus Federation: </a:t>
            </a:r>
            <a:r>
              <a:rPr>
                <a:solidFill>
                  <a:srgbClr val="94A3B8"/>
                </a:solidFill>
              </a:rPr>
              <a:t>Inter-collegiate network enabling neighboring universities (e.g. Stanford &amp; Berkeley) to trade securely.</a:t>
            </a:r>
          </a:p>
          <a:p>
            <a:pPr>
              <a:spcAft>
                <a:spcPts val="800"/>
              </a:spcAft>
              <a:defRPr sz="1100">
                <a:latin typeface="Arial"/>
              </a:defRPr>
            </a:pPr>
            <a:r>
              <a:rPr b="1">
                <a:solidFill>
                  <a:srgbClr val="818CF8"/>
                </a:solidFill>
              </a:rPr>
              <a:t>• </a:t>
            </a:r>
            <a:r>
              <a:rPr b="1">
                <a:solidFill>
                  <a:srgbClr val="F8FAFC"/>
                </a:solidFill>
              </a:rPr>
              <a:t>Phase 3: Computer Vision AI: </a:t>
            </a:r>
            <a:r>
              <a:rPr>
                <a:solidFill>
                  <a:srgbClr val="94A3B8"/>
                </a:solidFill>
              </a:rPr>
              <a:t>Automated image condition analysis and textbook ISBN barcode recognition via Gemini multimodal vision.</a:t>
            </a:r>
          </a:p>
          <a:p>
            <a:pPr>
              <a:spcAft>
                <a:spcPts val="800"/>
              </a:spcAft>
              <a:defRPr sz="1100">
                <a:latin typeface="Arial"/>
              </a:defRPr>
            </a:pPr>
            <a:r>
              <a:rPr b="1">
                <a:solidFill>
                  <a:srgbClr val="818CF8"/>
                </a:solidFill>
              </a:rPr>
              <a:t>• </a:t>
            </a:r>
            <a:r>
              <a:rPr b="1">
                <a:solidFill>
                  <a:srgbClr val="F8FAFC"/>
                </a:solidFill>
              </a:rPr>
              <a:t>Phase 4: Native Mobile Apps: </a:t>
            </a:r>
            <a:r>
              <a:rPr>
                <a:solidFill>
                  <a:srgbClr val="94A3B8"/>
                </a:solidFill>
              </a:rPr>
              <a:t>Cross-platform iOS and Android apps with native push notifications for live auction outbid alerts.</a:t>
            </a:r>
          </a:p>
        </p:txBody>
      </p:sp>
      <p:sp>
        <p:nvSpPr>
          <p:cNvPr id="15" name="Rectangle 14"/>
          <p:cNvSpPr/>
          <p:nvPr/>
        </p:nvSpPr>
        <p:spPr>
          <a:xfrm>
            <a:off x="731520" y="6263640"/>
            <a:ext cx="10728655" cy="18288"/>
          </a:xfrm>
          <a:prstGeom prst="rect">
            <a:avLst/>
          </a:prstGeom>
          <a:solidFill>
            <a:srgbClr val="2D3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27648"/>
            <a:ext cx="6400800" cy="320040"/>
          </a:xfrm>
          <a:prstGeom prst="rect">
            <a:avLst/>
          </a:prstGeom>
          <a:noFill/>
        </p:spPr>
        <p:txBody>
          <a:bodyPr wrap="none" lIns="0" tIns="0">
            <a:spAutoFit/>
          </a:bodyPr>
          <a:lstStyle/>
          <a:p>
            <a:pPr>
              <a:defRPr sz="1000">
                <a:solidFill>
                  <a:srgbClr val="64748B"/>
                </a:solidFill>
                <a:latin typeface="Arial"/>
              </a:defRPr>
            </a:pPr>
            <a:r>
              <a:t>CampusMart AI 🎓 • Next-Gen University Marketplace &amp; Auction Platform</a:t>
            </a:r>
          </a:p>
        </p:txBody>
      </p:sp>
      <p:sp>
        <p:nvSpPr>
          <p:cNvPr id="17" name="TextBox 16"/>
          <p:cNvSpPr txBox="1"/>
          <p:nvPr/>
        </p:nvSpPr>
        <p:spPr>
          <a:xfrm>
            <a:off x="8229600" y="6327648"/>
            <a:ext cx="3230575" cy="320040"/>
          </a:xfrm>
          <a:prstGeom prst="rect">
            <a:avLst/>
          </a:prstGeom>
          <a:noFill/>
        </p:spPr>
        <p:txBody>
          <a:bodyPr wrap="none" tIns="0">
            <a:spAutoFit/>
          </a:bodyPr>
          <a:lstStyle/>
          <a:p>
            <a:pPr algn="r">
              <a:defRPr sz="1000" b="1">
                <a:solidFill>
                  <a:srgbClr val="38BDF8"/>
                </a:solidFill>
                <a:latin typeface="Arial"/>
              </a:defRPr>
            </a:pPr>
            <a:r>
              <a:t>Capstone Defense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